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bd4df9b78ad44d0" /><Relationship Type="http://schemas.openxmlformats.org/officeDocument/2006/relationships/extended-properties" Target="/docProps/app.xml" Id="R8bc0ed4c529a4e82" /><Relationship Type="http://schemas.openxmlformats.org/officeDocument/2006/relationships/officeDocument" Target="/ppt/presentation.xml" Id="Radb6faf4e4964e33" /></Relationships>
</file>

<file path=ppt/presentation.xml><?xml version="1.0" encoding="utf-8"?>
<p:presentation xmlns:p="http://schemas.openxmlformats.org/presentationml/2006/main">
  <p:sldMasterIdLst>
    <p:sldMasterId xmlns:r="http://schemas.openxmlformats.org/officeDocument/2006/relationships" id="2147483648" r:id="Rc8e6b742ec2047db"/>
  </p:sldMasterIdLst>
  <p:notesMasterIdLst>
    <p:notesMasterId xmlns:r="http://schemas.openxmlformats.org/officeDocument/2006/relationships" r:id="R66a6533e0ea74119"/>
  </p:notesMasterIdLst>
  <p:sldIdLst>
    <p:sldId xmlns:r="http://schemas.openxmlformats.org/officeDocument/2006/relationships" id="256" r:id="R9d8b8c223cdb4348"/>
    <p:sldId xmlns:r="http://schemas.openxmlformats.org/officeDocument/2006/relationships" id="257" r:id="Ra21aa1d7fa424767"/>
    <p:sldId xmlns:r="http://schemas.openxmlformats.org/officeDocument/2006/relationships" id="258" r:id="R1ad7bf73e921473b"/>
    <p:sldId xmlns:r="http://schemas.openxmlformats.org/officeDocument/2006/relationships" id="259" r:id="R7164bddc69914ecf"/>
    <p:sldId xmlns:r="http://schemas.openxmlformats.org/officeDocument/2006/relationships" id="260" r:id="R289f0fe651644fc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4dd3e25d1454737" /><Relationship Type="http://schemas.openxmlformats.org/officeDocument/2006/relationships/slideMaster" Target="/ppt/slideMasters/slideMaster1.xml" Id="Rc8e6b742ec2047db" /><Relationship Type="http://schemas.openxmlformats.org/officeDocument/2006/relationships/notesMaster" Target="/ppt/notesMasters/notesMaster1.xml" Id="R66a6533e0ea74119" /><Relationship Type="http://schemas.openxmlformats.org/officeDocument/2006/relationships/presProps" Target="/ppt/presProps.xml" Id="Rc18de8d4dfcd4fb0" /><Relationship Type="http://schemas.openxmlformats.org/officeDocument/2006/relationships/tableStyles" Target="/ppt/tableStyles.xml" Id="R580c5e53243a4d47" /><Relationship Type="http://schemas.openxmlformats.org/officeDocument/2006/relationships/slide" Target="/ppt/slides/slide1.xml" Id="R9d8b8c223cdb4348" /><Relationship Type="http://schemas.openxmlformats.org/officeDocument/2006/relationships/slide" Target="/ppt/slides/slide2.xml" Id="Ra21aa1d7fa424767" /><Relationship Type="http://schemas.openxmlformats.org/officeDocument/2006/relationships/slide" Target="/ppt/slides/slide3.xml" Id="R1ad7bf73e921473b" /><Relationship Type="http://schemas.openxmlformats.org/officeDocument/2006/relationships/slide" Target="/ppt/slides/slide4.xml" Id="R7164bddc69914ecf" /><Relationship Type="http://schemas.openxmlformats.org/officeDocument/2006/relationships/slide" Target="/ppt/slides/slide5.xml" Id="R289f0fe651644fc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a0af728a5b489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dbbd05d7c22483a" /><Relationship Type="http://schemas.openxmlformats.org/officeDocument/2006/relationships/notesMaster" Target="/ppt/notesMasters/notesMaster1.xml" Id="R0dcfba5c4c6d46cb" /></Relationships>
</file>

<file path=ppt/notesSlides/_rels/notesSlide2.xml.rels>&#65279;<?xml version="1.0" encoding="utf-8"?><Relationships xmlns="http://schemas.openxmlformats.org/package/2006/relationships"><Relationship Type="http://schemas.openxmlformats.org/officeDocument/2006/relationships/slide" Target="/ppt/slides/slide2.xml" Id="R09a59bc29a694435" /><Relationship Type="http://schemas.openxmlformats.org/officeDocument/2006/relationships/notesMaster" Target="/ppt/notesMasters/notesMaster1.xml" Id="Rfd0172bdce274e72" /></Relationships>
</file>

<file path=ppt/notesSlides/_rels/notesSlide3.xml.rels>&#65279;<?xml version="1.0" encoding="utf-8"?><Relationships xmlns="http://schemas.openxmlformats.org/package/2006/relationships"><Relationship Type="http://schemas.openxmlformats.org/officeDocument/2006/relationships/slide" Target="/ppt/slides/slide3.xml" Id="Rb7f5489875eb43be" /><Relationship Type="http://schemas.openxmlformats.org/officeDocument/2006/relationships/notesMaster" Target="/ppt/notesMasters/notesMaster1.xml" Id="Ra2ce44aa3f9e4231" /></Relationships>
</file>

<file path=ppt/notesSlides/_rels/notesSlide4.xml.rels>&#65279;<?xml version="1.0" encoding="utf-8"?><Relationships xmlns="http://schemas.openxmlformats.org/package/2006/relationships"><Relationship Type="http://schemas.openxmlformats.org/officeDocument/2006/relationships/slide" Target="/ppt/slides/slide4.xml" Id="R7f8334ac4870426d" /><Relationship Type="http://schemas.openxmlformats.org/officeDocument/2006/relationships/notesMaster" Target="/ppt/notesMasters/notesMaster1.xml" Id="R82c1537b9a514d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802c359aef5c4f7f" /><Relationship Type="http://schemas.openxmlformats.org/officeDocument/2006/relationships/notesMaster" Target="/ppt/notesMasters/notesMaster1.xml" Id="Rf4f2930cba3040a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50 giây. Pain point: vendor vừa gán nhãn một lô ảnh; chỉ đủ ngân sách kiểm tra 5%. Bài thử dùng 2.000 ảnh Fashion-MNIST, tiêm đúng 200 lỗi có kiểm soát. Người chịu hậu quả là đội ML dùng nhãn này để huấn luyện và đánh giá mô hình. 200 lỗi là setup benchmark, không phải tỷ lệ lỗi vendor thật. Nguồn: https://github.com/zalandoresearch/fashion-mnist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50 giây. Baseline bắt buộc là random sampling cùng 100 ảnh trên đúng evaluation set. Chạy 100 seed cố định. Trung bình 9,64 lỗi, recall 4,82%; một lần chạy có thể dao động từ 4 đến 17. Nêu rõ đây là trung bình nhiều lần, không chọn seed đẹp.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60 giây. Đây là prototype 15-nearest-neighbor: thu ảnh 28x28 thành 14x14, dùng các ảnh development có nhãn lỗi mô phỏng để bỏ phiếu. Ảnh evaluation hoàn toàn không tham gia huấn luyện. Score = 1 trừ xác suất của nhãn hiện tại. Sắp xếp giảm dần, chọn 100 ảnh. Cho demo HTML offline nếu có thời gian: chuyển giữa random và model, bật hiện đáp án. Nhãn tham chiếu chỉ xuất hiện sau khi thứ tự đã khóa. Nguồn ảnh: Fashion-MNIST, https://github.com/zalandoresearch/fashion-mnist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65 giây. Chỉ sau khi khóa ranking mới đối chiếu đáp án. 78/200 lỗi thật trong top 100, recall 39%, precision 78%. Random 100 seed trung bình 9,64/200, recall 4,82%; tỷ lệ khoảng 8,1 lần. Theo loại: 49/80 rải rác, 6/80 nhầm Shirt và T-shirt/top, 23/40 theo lô. Đây là failure case quan trọng. Stress test giữ cố định mô hình và ngân sách: 5% lỗi recall 52%, 20% lỗi recall 22,5%. Stress khác prevalence nên recall không so trực tiếp với kịch bản chính.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55 giây. Quyết định là Rework. Tổng recall cao nhưng loại nhầm Shirt thành T-shirt chỉ được 6/80; đây là loại lỗi thực tế quan trọng. Ground truth trong benchmark dựa trên nhãn gốc Fashion-MNIST và lỗi tạo có kiểm soát. Chưa đo human review time, chưa thử lỗi tự nhiên hoặc downstream recovery. Bước tiếp là thêm tín hiệu class-aware hoặc batch metadata, kiểm tra trên development mới, sau đó đánh giá với tập thật được phân xử độc lập. Không đổi kết quả evaluation hiện tại.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4a6585d88b14ad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4ac31c64e6c4e63" /><Relationship Type="http://schemas.openxmlformats.org/officeDocument/2006/relationships/slideLayout" Target="/ppt/slideLayouts/slideLayout1.xml" Id="R6c1a23356255419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1a23356255419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c34e260e8964e18" /><Relationship Type="http://schemas.openxmlformats.org/officeDocument/2006/relationships/notesSlide" Target="/ppt/notesSlides/notesSlide1.xml" Id="R9f248b04ad21450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22ea4e14c9946ab" /><Relationship Type="http://schemas.openxmlformats.org/officeDocument/2006/relationships/notesSlide" Target="/ppt/notesSlides/notesSlide2.xml" Id="Rcb16a40fb05f413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d045260055d4dec" /><Relationship Type="http://schemas.openxmlformats.org/officeDocument/2006/relationships/image" Target="/ppt/media/image.png" Id="Rc45f637444bf4ae7" /><Relationship Type="http://schemas.openxmlformats.org/officeDocument/2006/relationships/notesSlide" Target="/ppt/notesSlides/notesSlide3.xml" Id="R5d059547259b4ab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93d79db1f4947b4" /><Relationship Type="http://schemas.openxmlformats.org/officeDocument/2006/relationships/chart" Target="/ppt/slides/charts/chart1.xml" Id="R0a54de032af44fea" /><Relationship Type="http://schemas.openxmlformats.org/officeDocument/2006/relationships/notesSlide" Target="/ppt/notesSlides/notesSlide4.xml" Id="R304ccaee419e49b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4ba80ae4a06496b" /><Relationship Type="http://schemas.openxmlformats.org/officeDocument/2006/relationships/notesSlide" Target="/ppt/notesSlides/notesSlide5.xml" Id="R23d3a2041cea4b4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Random</c:v>
          </c:tx>
          <c:spPr>
            <a:solidFill xmlns:a="http://schemas.openxmlformats.org/drawingml/2006/main">
              <a:srgbClr val="B8D0E5"/>
            </a:solidFill>
          </c:spPr>
          <c:cat>
            <c:strRef>
              <c:f>'Chart Data'!$A$2:$A$4</c:f>
              <c:strCache>
                <c:ptCount val="3"/>
                <c:pt idx="0">
                  <c:v>Rải rác</c:v>
                </c:pt>
                <c:pt idx="1">
                  <c:v>Nhầm 2 lớp</c:v>
                </c:pt>
                <c:pt idx="2">
                  <c:v>Theo lô</c:v>
                </c:pt>
              </c:strCache>
            </c:strRef>
          </c:cat>
          <c:val>
            <c:numRef>
              <c:f>'Chart Data'!$B$2:$B$4</c:f>
              <c:numCache>
                <c:formatCode>General</c:formatCode>
                <c:ptCount val="3"/>
                <c:pt idx="0">
                  <c:v>4.675</c:v>
                </c:pt>
                <c:pt idx="1">
                  <c:v>5.0875</c:v>
                </c:pt>
                <c:pt idx="2">
                  <c:v>4.575</c:v>
                </c:pt>
              </c:numCache>
            </c:numRef>
          </c:val>
        </c:ser>
        <c:ser>
          <c:idx val="1"/>
          <c:order val="1"/>
          <c:tx>
            <c:v>Nhóm</c:v>
          </c:tx>
          <c:spPr>
            <a:solidFill xmlns:a="http://schemas.openxmlformats.org/drawingml/2006/main">
              <a:srgbClr val="1E65A5"/>
            </a:solidFill>
          </c:spPr>
          <c:cat>
            <c:strRef>
              <c:f>'Chart Data'!$C$2:$C$4</c:f>
              <c:strCache>
                <c:ptCount val="3"/>
                <c:pt idx="0">
                  <c:v>Rải rác</c:v>
                </c:pt>
                <c:pt idx="1">
                  <c:v>Nhầm 2 lớp</c:v>
                </c:pt>
                <c:pt idx="2">
                  <c:v>Theo lô</c:v>
                </c:pt>
              </c:strCache>
            </c:strRef>
          </c:cat>
          <c:val>
            <c:numRef>
              <c:f>'Chart Data'!$D$2:$D$4</c:f>
              <c:numCache>
                <c:formatCode>General</c:formatCode>
                <c:ptCount val="3"/>
                <c:pt idx="0">
                  <c:v>61.25</c:v>
                </c:pt>
                <c:pt idx="1">
                  <c:v>7.5</c:v>
                </c:pt>
                <c:pt idx="2">
                  <c:v>57.5</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crossBetween val="between"/>
      </c:valAx>
      <c:spPr>
        <a:solidFill xmlns:a="http://schemas.openxmlformats.org/drawingml/2006/main">
          <a:srgbClr val="FAFCFE"/>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a:latin typeface="Arial"/>
              <a:ea typeface="Arial"/>
              <a:cs typeface="Arial"/>
            </a:defRPr>
          </a:pPr>
        </a:p>
      </c:txPr>
    </c:legend>
    <c:plotVisOnly val="1"/>
  </c:chart>
  <c:spPr>
    <a:solidFill xmlns:a="http://schemas.openxmlformats.org/drawingml/2006/main">
      <a:srgbClr val="FAFCFE"/>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AD31E71-48FD-4672-A855-AF3756521DC9}"/>
              </a:ext>
            </a:extLst>
          </p:cNvPr>
          <p:cNvSpPr>
            <a:spLocks xmlns:a="http://schemas.openxmlformats.org/drawingml/2006/main" noGrp="1"/>
          </p:cNvSpPr>
          <p:nvPr/>
        </p:nvSpPr>
        <p:spPr>
          <a:xfrm xmlns:a="http://schemas.openxmlformats.org/drawingml/2006/main">
            <a:off x="666750" y="2857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a:solidFill>
                  <a:srgbClr val="1E65A5"/>
                </a:solidFill>
                <a:latin typeface="Arial"/>
                <a:ea typeface="Arial"/>
                <a:cs typeface="Arial"/>
              </a:defRPr>
            </a:pPr>
            <a:r>
              <a:rPr sz="1200" b="1">
                <a:solidFill>
                  <a:srgbClr val="1E65A5"/>
                </a:solidFill>
                <a:latin typeface="Arial"/>
                <a:ea typeface="Arial"/>
                <a:cs typeface="Arial"/>
              </a:rPr>
              <a:t>C1  /  PAIN</a:t>
            </a:r>
          </a:p>
        </p:txBody>
      </p:sp>
      <p:sp>
        <p:nvSpPr>
          <p:cNvPr id="2" name="">
            <a:extLst xmlns:a="http://schemas.openxmlformats.org/drawingml/2006/main">
              <a:ext uri="{FF2B5EF4-FFF2-40B4-BE49-F238E27FC236}">
                <a16:creationId xmlns:a16="http://schemas.microsoft.com/office/drawing/2014/main" id="{29217DF8-3022-46E2-8848-50C0907AE653}"/>
              </a:ext>
            </a:extLst>
          </p:cNvPr>
          <p:cNvSpPr>
            <a:spLocks xmlns:a="http://schemas.openxmlformats.org/drawingml/2006/main" noGrp="1"/>
          </p:cNvSpPr>
          <p:nvPr/>
        </p:nvSpPr>
        <p:spPr>
          <a:xfrm xmlns:a="http://schemas.openxmlformats.org/drawingml/2006/main">
            <a:off x="666750" y="685800"/>
            <a:ext cx="1076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73A63"/>
                </a:solidFill>
                <a:latin typeface="Arial"/>
                <a:ea typeface="Arial"/>
                <a:cs typeface="Arial"/>
              </a:defRPr>
            </a:pPr>
            <a:r>
              <a:rPr sz="3150" b="1">
                <a:solidFill>
                  <a:srgbClr val="173A63"/>
                </a:solidFill>
                <a:latin typeface="Arial"/>
                <a:ea typeface="Arial"/>
                <a:cs typeface="Arial"/>
              </a:rPr>
              <a:t>Chỉ đủ thời gian xem lại 5% ảnh</a:t>
            </a:r>
          </a:p>
        </p:txBody>
      </p:sp>
      <p:sp>
        <p:nvSpPr>
          <p:cNvPr id="3" name="">
            <a:extLst xmlns:a="http://schemas.openxmlformats.org/drawingml/2006/main">
              <a:ext uri="{FF2B5EF4-FFF2-40B4-BE49-F238E27FC236}">
                <a16:creationId xmlns:a16="http://schemas.microsoft.com/office/drawing/2014/main" id="{A5D13EAB-2E92-4A0F-B743-7258C97E787E}"/>
              </a:ext>
            </a:extLst>
          </p:cNvPr>
          <p:cNvSpPr>
            <a:spLocks xmlns:a="http://schemas.openxmlformats.org/drawingml/2006/main" noGrp="1"/>
          </p:cNvSpPr>
          <p:nvPr/>
        </p:nvSpPr>
        <p:spPr>
          <a:xfrm xmlns:a="http://schemas.openxmlformats.org/drawingml/2006/main">
            <a:off x="666750" y="1524000"/>
            <a:ext cx="10858500" cy="19050"/>
          </a:xfrm>
          <a:prstGeom xmlns:a="http://schemas.openxmlformats.org/drawingml/2006/main" prst="rect">
            <a:avLst/>
          </a:prstGeom>
          <a:solidFill xmlns:a="http://schemas.openxmlformats.org/drawingml/2006/main">
            <a:srgbClr val="B8D0E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454AE0E-6D6D-4941-9AAC-3096ECF2C32D}"/>
              </a:ext>
            </a:extLst>
          </p:cNvPr>
          <p:cNvSpPr>
            <a:spLocks xmlns:a="http://schemas.openxmlformats.org/drawingml/2006/main" noGrp="1"/>
          </p:cNvSpPr>
          <p:nvPr/>
        </p:nvSpPr>
        <p:spPr>
          <a:xfrm xmlns:a="http://schemas.openxmlformats.org/drawingml/2006/main">
            <a:off x="10572750" y="635317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516B84"/>
                </a:solidFill>
                <a:latin typeface="Arial"/>
                <a:ea typeface="Arial"/>
                <a:cs typeface="Arial"/>
              </a:defRPr>
            </a:pPr>
            <a:r>
              <a:rPr sz="1200" b="0">
                <a:solidFill>
                  <a:srgbClr val="516B84"/>
                </a:solidFill>
                <a:latin typeface="Arial"/>
                <a:ea typeface="Arial"/>
                <a:cs typeface="Arial"/>
              </a:rPr>
              <a:t>01 / 05</a:t>
            </a:r>
          </a:p>
        </p:txBody>
      </p:sp>
      <p:sp>
        <p:nvSpPr>
          <p:cNvPr id="5" name="">
            <a:extLst xmlns:a="http://schemas.openxmlformats.org/drawingml/2006/main">
              <a:ext uri="{FF2B5EF4-FFF2-40B4-BE49-F238E27FC236}">
                <a16:creationId xmlns:a16="http://schemas.microsoft.com/office/drawing/2014/main" id="{8D90873A-CBD5-4F90-8989-B4F4D60EEA9C}"/>
              </a:ext>
            </a:extLst>
          </p:cNvPr>
          <p:cNvSpPr>
            <a:spLocks xmlns:a="http://schemas.openxmlformats.org/drawingml/2006/main" noGrp="1"/>
          </p:cNvSpPr>
          <p:nvPr/>
        </p:nvSpPr>
        <p:spPr>
          <a:xfrm xmlns:a="http://schemas.openxmlformats.org/drawingml/2006/main">
            <a:off x="666750" y="1828800"/>
            <a:ext cx="10096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183153"/>
                </a:solidFill>
                <a:latin typeface="Arial"/>
                <a:ea typeface="Arial"/>
                <a:cs typeface="Arial"/>
              </a:defRPr>
            </a:pPr>
            <a:r>
              <a:rPr sz="2175" b="0">
                <a:solidFill>
                  <a:srgbClr val="183153"/>
                </a:solidFill>
                <a:latin typeface="Arial"/>
                <a:ea typeface="Arial"/>
                <a:cs typeface="Arial"/>
              </a:rPr>
              <a:t>Lô ảnh sản phẩm đã được gán nhãn; lỗi nhãn có thể làm mô hình học sai.</a:t>
            </a:r>
          </a:p>
        </p:txBody>
      </p:sp>
      <p:sp>
        <p:nvSpPr>
          <p:cNvPr id="6" name="">
            <a:extLst xmlns:a="http://schemas.openxmlformats.org/drawingml/2006/main">
              <a:ext uri="{FF2B5EF4-FFF2-40B4-BE49-F238E27FC236}">
                <a16:creationId xmlns:a16="http://schemas.microsoft.com/office/drawing/2014/main" id="{DF0C1BA7-78D9-40EF-B3BA-8D5D672E4E35}"/>
              </a:ext>
            </a:extLst>
          </p:cNvPr>
          <p:cNvSpPr>
            <a:spLocks xmlns:a="http://schemas.openxmlformats.org/drawingml/2006/main" noGrp="1"/>
          </p:cNvSpPr>
          <p:nvPr/>
        </p:nvSpPr>
        <p:spPr>
          <a:xfrm xmlns:a="http://schemas.openxmlformats.org/drawingml/2006/main">
            <a:off x="666750" y="2781300"/>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E65A5"/>
                </a:solidFill>
                <a:latin typeface="Arial"/>
                <a:ea typeface="Arial"/>
                <a:cs typeface="Arial"/>
              </a:defRPr>
            </a:pPr>
            <a:r>
              <a:rPr sz="1350" b="1">
                <a:solidFill>
                  <a:srgbClr val="1E65A5"/>
                </a:solidFill>
                <a:latin typeface="Arial"/>
                <a:ea typeface="Arial"/>
                <a:cs typeface="Arial"/>
              </a:rPr>
              <a:t>Câu hỏi production</a:t>
            </a:r>
          </a:p>
        </p:txBody>
      </p:sp>
      <p:sp>
        <p:nvSpPr>
          <p:cNvPr id="7" name="">
            <a:extLst xmlns:a="http://schemas.openxmlformats.org/drawingml/2006/main">
              <a:ext uri="{FF2B5EF4-FFF2-40B4-BE49-F238E27FC236}">
                <a16:creationId xmlns:a16="http://schemas.microsoft.com/office/drawing/2014/main" id="{D8B2B3A5-3981-4080-8495-5AF218F0C196}"/>
              </a:ext>
            </a:extLst>
          </p:cNvPr>
          <p:cNvSpPr>
            <a:spLocks xmlns:a="http://schemas.openxmlformats.org/drawingml/2006/main" noGrp="1"/>
          </p:cNvSpPr>
          <p:nvPr/>
        </p:nvSpPr>
        <p:spPr>
          <a:xfrm xmlns:a="http://schemas.openxmlformats.org/drawingml/2006/main">
            <a:off x="666750" y="3200400"/>
            <a:ext cx="8382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1">
                <a:solidFill>
                  <a:srgbClr val="173A63"/>
                </a:solidFill>
                <a:latin typeface="Arial"/>
                <a:ea typeface="Arial"/>
                <a:cs typeface="Arial"/>
              </a:defRPr>
            </a:pPr>
            <a:r>
              <a:rPr sz="2550" b="1">
                <a:solidFill>
                  <a:srgbClr val="173A63"/>
                </a:solidFill>
                <a:latin typeface="Arial"/>
                <a:ea typeface="Arial"/>
                <a:cs typeface="Arial"/>
              </a:rPr>
              <a:t>Nên đưa 100 ảnh nào cho người kiểm tra để tìm nhiều nhãn sai nhất?</a:t>
            </a:r>
          </a:p>
        </p:txBody>
      </p:sp>
      <p:sp>
        <p:nvSpPr>
          <p:cNvPr id="8" name="">
            <a:extLst xmlns:a="http://schemas.openxmlformats.org/drawingml/2006/main">
              <a:ext uri="{FF2B5EF4-FFF2-40B4-BE49-F238E27FC236}">
                <a16:creationId xmlns:a16="http://schemas.microsoft.com/office/drawing/2014/main" id="{05E403E9-C84F-4510-9DF3-1E56E1281B0F}"/>
              </a:ext>
            </a:extLst>
          </p:cNvPr>
          <p:cNvSpPr>
            <a:spLocks xmlns:a="http://schemas.openxmlformats.org/drawingml/2006/main" noGrp="1"/>
          </p:cNvSpPr>
          <p:nvPr/>
        </p:nvSpPr>
        <p:spPr>
          <a:xfrm xmlns:a="http://schemas.openxmlformats.org/drawingml/2006/main">
            <a:off x="666750" y="4762500"/>
            <a:ext cx="10763250" cy="19050"/>
          </a:xfrm>
          <a:prstGeom xmlns:a="http://schemas.openxmlformats.org/drawingml/2006/main" prst="rect">
            <a:avLst/>
          </a:prstGeom>
          <a:solidFill xmlns:a="http://schemas.openxmlformats.org/drawingml/2006/main">
            <a:srgbClr val="B8D0E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4F26B64-C94F-42B9-9544-7725A39CE590}"/>
              </a:ext>
            </a:extLst>
          </p:cNvPr>
          <p:cNvSpPr>
            <a:spLocks xmlns:a="http://schemas.openxmlformats.org/drawingml/2006/main" noGrp="1"/>
          </p:cNvSpPr>
          <p:nvPr/>
        </p:nvSpPr>
        <p:spPr>
          <a:xfrm xmlns:a="http://schemas.openxmlformats.org/drawingml/2006/main">
            <a:off x="666750" y="5048250"/>
            <a:ext cx="2476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173A63"/>
                </a:solidFill>
                <a:latin typeface="Arial"/>
                <a:ea typeface="Arial"/>
                <a:cs typeface="Arial"/>
              </a:defRPr>
            </a:pPr>
            <a:r>
              <a:rPr sz="2775" b="1">
                <a:solidFill>
                  <a:srgbClr val="173A63"/>
                </a:solidFill>
                <a:latin typeface="Arial"/>
                <a:ea typeface="Arial"/>
                <a:cs typeface="Arial"/>
              </a:rPr>
              <a:t>2.000 ảnh</a:t>
            </a:r>
          </a:p>
        </p:txBody>
      </p:sp>
      <p:sp>
        <p:nvSpPr>
          <p:cNvPr id="10" name="">
            <a:extLst xmlns:a="http://schemas.openxmlformats.org/drawingml/2006/main">
              <a:ext uri="{FF2B5EF4-FFF2-40B4-BE49-F238E27FC236}">
                <a16:creationId xmlns:a16="http://schemas.microsoft.com/office/drawing/2014/main" id="{F28A6B2E-6071-44F7-A91D-86A28615EE35}"/>
              </a:ext>
            </a:extLst>
          </p:cNvPr>
          <p:cNvSpPr>
            <a:spLocks xmlns:a="http://schemas.openxmlformats.org/drawingml/2006/main" noGrp="1"/>
          </p:cNvSpPr>
          <p:nvPr/>
        </p:nvSpPr>
        <p:spPr>
          <a:xfrm xmlns:a="http://schemas.openxmlformats.org/drawingml/2006/main">
            <a:off x="3733800" y="5048250"/>
            <a:ext cx="342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B83336"/>
                </a:solidFill>
                <a:latin typeface="Arial"/>
                <a:ea typeface="Arial"/>
                <a:cs typeface="Arial"/>
              </a:defRPr>
            </a:pPr>
            <a:r>
              <a:rPr sz="2775" b="1">
                <a:solidFill>
                  <a:srgbClr val="B83336"/>
                </a:solidFill>
                <a:latin typeface="Arial"/>
                <a:ea typeface="Arial"/>
                <a:cs typeface="Arial"/>
              </a:rPr>
              <a:t>200 lỗi mô phỏng</a:t>
            </a:r>
          </a:p>
        </p:txBody>
      </p:sp>
      <p:sp>
        <p:nvSpPr>
          <p:cNvPr id="11" name="">
            <a:extLst xmlns:a="http://schemas.openxmlformats.org/drawingml/2006/main">
              <a:ext uri="{FF2B5EF4-FFF2-40B4-BE49-F238E27FC236}">
                <a16:creationId xmlns:a16="http://schemas.microsoft.com/office/drawing/2014/main" id="{7B154FB9-5B36-4E33-9753-C7015E858B35}"/>
              </a:ext>
            </a:extLst>
          </p:cNvPr>
          <p:cNvSpPr>
            <a:spLocks xmlns:a="http://schemas.openxmlformats.org/drawingml/2006/main" noGrp="1"/>
          </p:cNvSpPr>
          <p:nvPr/>
        </p:nvSpPr>
        <p:spPr>
          <a:xfrm xmlns:a="http://schemas.openxmlformats.org/drawingml/2006/main">
            <a:off x="7858125" y="5048250"/>
            <a:ext cx="361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1E65A5"/>
                </a:solidFill>
                <a:latin typeface="Arial"/>
                <a:ea typeface="Arial"/>
                <a:cs typeface="Arial"/>
              </a:defRPr>
            </a:pPr>
            <a:r>
              <a:rPr sz="2775" b="1">
                <a:solidFill>
                  <a:srgbClr val="1E65A5"/>
                </a:solidFill>
                <a:latin typeface="Arial"/>
                <a:ea typeface="Arial"/>
                <a:cs typeface="Arial"/>
              </a:rPr>
              <a:t>100 lượt review</a:t>
            </a:r>
          </a:p>
        </p:txBody>
      </p:sp>
      <p:sp>
        <p:nvSpPr>
          <p:cNvPr id="12" name="">
            <a:extLst xmlns:a="http://schemas.openxmlformats.org/drawingml/2006/main">
              <a:ext uri="{FF2B5EF4-FFF2-40B4-BE49-F238E27FC236}">
                <a16:creationId xmlns:a16="http://schemas.microsoft.com/office/drawing/2014/main" id="{D2F02E63-5995-4E9A-A9FB-D04AE841053D}"/>
              </a:ext>
            </a:extLst>
          </p:cNvPr>
          <p:cNvSpPr>
            <a:spLocks xmlns:a="http://schemas.openxmlformats.org/drawingml/2006/main" noGrp="1"/>
          </p:cNvSpPr>
          <p:nvPr/>
        </p:nvSpPr>
        <p:spPr>
          <a:xfrm xmlns:a="http://schemas.openxmlformats.org/drawingml/2006/main">
            <a:off x="666750" y="5848350"/>
            <a:ext cx="1000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16B84"/>
                </a:solidFill>
                <a:latin typeface="Arial"/>
                <a:ea typeface="Arial"/>
                <a:cs typeface="Arial"/>
              </a:defRPr>
            </a:pPr>
            <a:r>
              <a:rPr sz="1350" b="0">
                <a:solidFill>
                  <a:srgbClr val="516B84"/>
                </a:solidFill>
                <a:latin typeface="Arial"/>
                <a:ea typeface="Arial"/>
                <a:cs typeface="Arial"/>
              </a:rPr>
              <a:t>Benchmark Fashion-MNIST · 10% nhãn bị đổi có kiểm soát</a:t>
            </a:r>
          </a:p>
        </p:txBody>
      </p:sp>
    </p:spTree>
    <p:extLst>
      <p:ext uri="{BB962C8B-B14F-4D97-AF65-F5344CB8AC3E}">
        <p14:creationId xmlns:p14="http://schemas.microsoft.com/office/powerpoint/2010/main" val="323643460"/>
      </p:ext>
    </p:extLst>
  </p:cSld>
</p:sld>
</file>

<file path=ppt/slides/slide2.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16F3D06-71DD-4B81-B162-039B0CCA5E49}"/>
              </a:ext>
            </a:extLst>
          </p:cNvPr>
          <p:cNvSpPr>
            <a:spLocks xmlns:a="http://schemas.openxmlformats.org/drawingml/2006/main" noGrp="1"/>
          </p:cNvSpPr>
          <p:nvPr/>
        </p:nvSpPr>
        <p:spPr>
          <a:xfrm xmlns:a="http://schemas.openxmlformats.org/drawingml/2006/main">
            <a:off x="666750" y="2857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a:solidFill>
                  <a:srgbClr val="1E65A5"/>
                </a:solidFill>
                <a:latin typeface="Arial"/>
                <a:ea typeface="Arial"/>
                <a:cs typeface="Arial"/>
              </a:defRPr>
            </a:pPr>
            <a:r>
              <a:rPr sz="1200" b="1">
                <a:solidFill>
                  <a:srgbClr val="1E65A5"/>
                </a:solidFill>
                <a:latin typeface="Arial"/>
                <a:ea typeface="Arial"/>
                <a:cs typeface="Arial"/>
              </a:rPr>
              <a:t>C1  /  BASELINE</a:t>
            </a:r>
          </a:p>
        </p:txBody>
      </p:sp>
      <p:sp>
        <p:nvSpPr>
          <p:cNvPr id="2" name="">
            <a:extLst xmlns:a="http://schemas.openxmlformats.org/drawingml/2006/main">
              <a:ext uri="{FF2B5EF4-FFF2-40B4-BE49-F238E27FC236}">
                <a16:creationId xmlns:a16="http://schemas.microsoft.com/office/drawing/2014/main" id="{CB37FD17-483F-4BB8-A578-751FACAD90A9}"/>
              </a:ext>
            </a:extLst>
          </p:cNvPr>
          <p:cNvSpPr>
            <a:spLocks xmlns:a="http://schemas.openxmlformats.org/drawingml/2006/main" noGrp="1"/>
          </p:cNvSpPr>
          <p:nvPr/>
        </p:nvSpPr>
        <p:spPr>
          <a:xfrm xmlns:a="http://schemas.openxmlformats.org/drawingml/2006/main">
            <a:off x="666750" y="685800"/>
            <a:ext cx="1076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73A63"/>
                </a:solidFill>
                <a:latin typeface="Arial"/>
                <a:ea typeface="Arial"/>
                <a:cs typeface="Arial"/>
              </a:defRPr>
            </a:pPr>
            <a:r>
              <a:rPr sz="3150" b="1">
                <a:solidFill>
                  <a:srgbClr val="173A63"/>
                </a:solidFill>
                <a:latin typeface="Arial"/>
                <a:ea typeface="Arial"/>
                <a:cs typeface="Arial"/>
              </a:rPr>
              <a:t>Baseline: chọn 100 ảnh ngẫu nhiên</a:t>
            </a:r>
          </a:p>
        </p:txBody>
      </p:sp>
      <p:sp>
        <p:nvSpPr>
          <p:cNvPr id="3" name="">
            <a:extLst xmlns:a="http://schemas.openxmlformats.org/drawingml/2006/main">
              <a:ext uri="{FF2B5EF4-FFF2-40B4-BE49-F238E27FC236}">
                <a16:creationId xmlns:a16="http://schemas.microsoft.com/office/drawing/2014/main" id="{DA4C8118-585B-4FF5-837D-C37F0EB640CF}"/>
              </a:ext>
            </a:extLst>
          </p:cNvPr>
          <p:cNvSpPr>
            <a:spLocks xmlns:a="http://schemas.openxmlformats.org/drawingml/2006/main" noGrp="1"/>
          </p:cNvSpPr>
          <p:nvPr/>
        </p:nvSpPr>
        <p:spPr>
          <a:xfrm xmlns:a="http://schemas.openxmlformats.org/drawingml/2006/main">
            <a:off x="666750" y="1524000"/>
            <a:ext cx="10858500" cy="19050"/>
          </a:xfrm>
          <a:prstGeom xmlns:a="http://schemas.openxmlformats.org/drawingml/2006/main" prst="rect">
            <a:avLst/>
          </a:prstGeom>
          <a:solidFill xmlns:a="http://schemas.openxmlformats.org/drawingml/2006/main">
            <a:srgbClr val="B8D0E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823C458-967C-4BFF-BE45-A900C57D39EA}"/>
              </a:ext>
            </a:extLst>
          </p:cNvPr>
          <p:cNvSpPr>
            <a:spLocks xmlns:a="http://schemas.openxmlformats.org/drawingml/2006/main" noGrp="1"/>
          </p:cNvSpPr>
          <p:nvPr/>
        </p:nvSpPr>
        <p:spPr>
          <a:xfrm xmlns:a="http://schemas.openxmlformats.org/drawingml/2006/main">
            <a:off x="10572750" y="635317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516B84"/>
                </a:solidFill>
                <a:latin typeface="Arial"/>
                <a:ea typeface="Arial"/>
                <a:cs typeface="Arial"/>
              </a:defRPr>
            </a:pPr>
            <a:r>
              <a:rPr sz="1200" b="0">
                <a:solidFill>
                  <a:srgbClr val="516B84"/>
                </a:solidFill>
                <a:latin typeface="Arial"/>
                <a:ea typeface="Arial"/>
                <a:cs typeface="Arial"/>
              </a:rPr>
              <a:t>02 / 05</a:t>
            </a:r>
          </a:p>
        </p:txBody>
      </p:sp>
      <p:sp>
        <p:nvSpPr>
          <p:cNvPr id="5" name="">
            <a:extLst xmlns:a="http://schemas.openxmlformats.org/drawingml/2006/main">
              <a:ext uri="{FF2B5EF4-FFF2-40B4-BE49-F238E27FC236}">
                <a16:creationId xmlns:a16="http://schemas.microsoft.com/office/drawing/2014/main" id="{5589B027-4A78-468B-B9AB-8C7A2AD7ED3D}"/>
              </a:ext>
            </a:extLst>
          </p:cNvPr>
          <p:cNvSpPr>
            <a:spLocks xmlns:a="http://schemas.openxmlformats.org/drawingml/2006/main" noGrp="1"/>
          </p:cNvSpPr>
          <p:nvPr/>
        </p:nvSpPr>
        <p:spPr>
          <a:xfrm xmlns:a="http://schemas.openxmlformats.org/drawingml/2006/main">
            <a:off x="666750" y="1838325"/>
            <a:ext cx="1028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0">
                <a:solidFill>
                  <a:srgbClr val="183153"/>
                </a:solidFill>
                <a:latin typeface="Arial"/>
                <a:ea typeface="Arial"/>
                <a:cs typeface="Arial"/>
              </a:defRPr>
            </a:pPr>
            <a:r>
              <a:rPr sz="2100" b="0">
                <a:solidFill>
                  <a:srgbClr val="183153"/>
                </a:solidFill>
                <a:latin typeface="Arial"/>
                <a:ea typeface="Arial"/>
                <a:cs typeface="Arial"/>
              </a:rPr>
              <a:t>Cùng 5% ngân sách, chọn ngẫu nhiên là cách dễ nhất để kiểm tra lại dữ liệu.</a:t>
            </a:r>
          </a:p>
        </p:txBody>
      </p:sp>
      <p:sp>
        <p:nvSpPr>
          <p:cNvPr id="6" name="">
            <a:extLst xmlns:a="http://schemas.openxmlformats.org/drawingml/2006/main">
              <a:ext uri="{FF2B5EF4-FFF2-40B4-BE49-F238E27FC236}">
                <a16:creationId xmlns:a16="http://schemas.microsoft.com/office/drawing/2014/main" id="{392F3619-E036-4ECA-A4C6-17CCB49132C6}"/>
              </a:ext>
            </a:extLst>
          </p:cNvPr>
          <p:cNvSpPr>
            <a:spLocks xmlns:a="http://schemas.openxmlformats.org/drawingml/2006/main" noGrp="1"/>
          </p:cNvSpPr>
          <p:nvPr/>
        </p:nvSpPr>
        <p:spPr>
          <a:xfrm xmlns:a="http://schemas.openxmlformats.org/drawingml/2006/main">
            <a:off x="666750" y="2724150"/>
            <a:ext cx="41910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7800" b="1">
                <a:solidFill>
                  <a:srgbClr val="173A63"/>
                </a:solidFill>
                <a:latin typeface="Arial"/>
                <a:ea typeface="Arial"/>
                <a:cs typeface="Arial"/>
              </a:defRPr>
            </a:pPr>
            <a:r>
              <a:rPr sz="7800" b="1">
                <a:solidFill>
                  <a:srgbClr val="173A63"/>
                </a:solidFill>
                <a:latin typeface="Arial"/>
                <a:ea typeface="Arial"/>
                <a:cs typeface="Arial"/>
              </a:rPr>
              <a:t>9,64</a:t>
            </a:r>
          </a:p>
        </p:txBody>
      </p:sp>
      <p:sp>
        <p:nvSpPr>
          <p:cNvPr id="7" name="">
            <a:extLst xmlns:a="http://schemas.openxmlformats.org/drawingml/2006/main">
              <a:ext uri="{FF2B5EF4-FFF2-40B4-BE49-F238E27FC236}">
                <a16:creationId xmlns:a16="http://schemas.microsoft.com/office/drawing/2014/main" id="{19A6FE88-5E11-444D-82BD-76D6C430382A}"/>
              </a:ext>
            </a:extLst>
          </p:cNvPr>
          <p:cNvSpPr>
            <a:spLocks xmlns:a="http://schemas.openxmlformats.org/drawingml/2006/main" noGrp="1"/>
          </p:cNvSpPr>
          <p:nvPr/>
        </p:nvSpPr>
        <p:spPr>
          <a:xfrm xmlns:a="http://schemas.openxmlformats.org/drawingml/2006/main">
            <a:off x="685800" y="4010025"/>
            <a:ext cx="4857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0">
                <a:solidFill>
                  <a:srgbClr val="183153"/>
                </a:solidFill>
                <a:latin typeface="Arial"/>
                <a:ea typeface="Arial"/>
                <a:cs typeface="Arial"/>
              </a:defRPr>
            </a:pPr>
            <a:r>
              <a:rPr sz="2325" b="0">
                <a:solidFill>
                  <a:srgbClr val="183153"/>
                </a:solidFill>
                <a:latin typeface="Arial"/>
                <a:ea typeface="Arial"/>
                <a:cs typeface="Arial"/>
              </a:rPr>
              <a:t>lỗi thật / 100 ảnh</a:t>
            </a:r>
          </a:p>
        </p:txBody>
      </p:sp>
      <p:sp>
        <p:nvSpPr>
          <p:cNvPr id="8" name="">
            <a:extLst xmlns:a="http://schemas.openxmlformats.org/drawingml/2006/main">
              <a:ext uri="{FF2B5EF4-FFF2-40B4-BE49-F238E27FC236}">
                <a16:creationId xmlns:a16="http://schemas.microsoft.com/office/drawing/2014/main" id="{3B08B69C-A199-4D48-B179-41694756071C}"/>
              </a:ext>
            </a:extLst>
          </p:cNvPr>
          <p:cNvSpPr>
            <a:spLocks xmlns:a="http://schemas.openxmlformats.org/drawingml/2006/main" noGrp="1"/>
          </p:cNvSpPr>
          <p:nvPr/>
        </p:nvSpPr>
        <p:spPr>
          <a:xfrm xmlns:a="http://schemas.openxmlformats.org/drawingml/2006/main">
            <a:off x="6219825" y="2686050"/>
            <a:ext cx="19050" cy="1714500"/>
          </a:xfrm>
          <a:prstGeom xmlns:a="http://schemas.openxmlformats.org/drawingml/2006/main" prst="rect">
            <a:avLst/>
          </a:prstGeom>
          <a:solidFill xmlns:a="http://schemas.openxmlformats.org/drawingml/2006/main">
            <a:srgbClr val="B8D0E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A8BE43E-A1C7-46D7-B9BF-E1BD53BD5BAE}"/>
              </a:ext>
            </a:extLst>
          </p:cNvPr>
          <p:cNvSpPr>
            <a:spLocks xmlns:a="http://schemas.openxmlformats.org/drawingml/2006/main" noGrp="1"/>
          </p:cNvSpPr>
          <p:nvPr/>
        </p:nvSpPr>
        <p:spPr>
          <a:xfrm xmlns:a="http://schemas.openxmlformats.org/drawingml/2006/main">
            <a:off x="6705600" y="2857500"/>
            <a:ext cx="4381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700" b="1">
                <a:solidFill>
                  <a:srgbClr val="1E65A5"/>
                </a:solidFill>
                <a:latin typeface="Arial"/>
                <a:ea typeface="Arial"/>
                <a:cs typeface="Arial"/>
              </a:defRPr>
            </a:pPr>
            <a:r>
              <a:rPr sz="5700" b="1">
                <a:solidFill>
                  <a:srgbClr val="1E65A5"/>
                </a:solidFill>
                <a:latin typeface="Arial"/>
                <a:ea typeface="Arial"/>
                <a:cs typeface="Arial"/>
              </a:rPr>
              <a:t>4,82%</a:t>
            </a:r>
          </a:p>
        </p:txBody>
      </p:sp>
      <p:sp>
        <p:nvSpPr>
          <p:cNvPr id="10" name="">
            <a:extLst xmlns:a="http://schemas.openxmlformats.org/drawingml/2006/main">
              <a:ext uri="{FF2B5EF4-FFF2-40B4-BE49-F238E27FC236}">
                <a16:creationId xmlns:a16="http://schemas.microsoft.com/office/drawing/2014/main" id="{E3B0F8C0-21F9-4BCE-910B-B465DE4374B1}"/>
              </a:ext>
            </a:extLst>
          </p:cNvPr>
          <p:cNvSpPr>
            <a:spLocks xmlns:a="http://schemas.openxmlformats.org/drawingml/2006/main" noGrp="1"/>
          </p:cNvSpPr>
          <p:nvPr/>
        </p:nvSpPr>
        <p:spPr>
          <a:xfrm xmlns:a="http://schemas.openxmlformats.org/drawingml/2006/main">
            <a:off x="6734175" y="4019550"/>
            <a:ext cx="4286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183153"/>
                </a:solidFill>
                <a:latin typeface="Arial"/>
                <a:ea typeface="Arial"/>
                <a:cs typeface="Arial"/>
              </a:defRPr>
            </a:pPr>
            <a:r>
              <a:rPr sz="2175" b="0">
                <a:solidFill>
                  <a:srgbClr val="183153"/>
                </a:solidFill>
                <a:latin typeface="Arial"/>
                <a:ea typeface="Arial"/>
                <a:cs typeface="Arial"/>
              </a:rPr>
              <a:t>Error Recall@5%</a:t>
            </a:r>
          </a:p>
        </p:txBody>
      </p:sp>
      <p:sp>
        <p:nvSpPr>
          <p:cNvPr id="11" name="">
            <a:extLst xmlns:a="http://schemas.openxmlformats.org/drawingml/2006/main">
              <a:ext uri="{FF2B5EF4-FFF2-40B4-BE49-F238E27FC236}">
                <a16:creationId xmlns:a16="http://schemas.microsoft.com/office/drawing/2014/main" id="{63F27CE9-5291-4632-91F1-F49E3A2275CF}"/>
              </a:ext>
            </a:extLst>
          </p:cNvPr>
          <p:cNvSpPr>
            <a:spLocks xmlns:a="http://schemas.openxmlformats.org/drawingml/2006/main" noGrp="1"/>
          </p:cNvSpPr>
          <p:nvPr/>
        </p:nvSpPr>
        <p:spPr>
          <a:xfrm xmlns:a="http://schemas.openxmlformats.org/drawingml/2006/main">
            <a:off x="666750" y="5048250"/>
            <a:ext cx="10763250" cy="19050"/>
          </a:xfrm>
          <a:prstGeom xmlns:a="http://schemas.openxmlformats.org/drawingml/2006/main" prst="rect">
            <a:avLst/>
          </a:prstGeom>
          <a:solidFill xmlns:a="http://schemas.openxmlformats.org/drawingml/2006/main">
            <a:srgbClr val="B8D0E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3E1E938-93F1-495C-A50C-A90690A9F393}"/>
              </a:ext>
            </a:extLst>
          </p:cNvPr>
          <p:cNvSpPr>
            <a:spLocks xmlns:a="http://schemas.openxmlformats.org/drawingml/2006/main" noGrp="1"/>
          </p:cNvSpPr>
          <p:nvPr/>
        </p:nvSpPr>
        <p:spPr>
          <a:xfrm xmlns:a="http://schemas.openxmlformats.org/drawingml/2006/main">
            <a:off x="666750" y="5276850"/>
            <a:ext cx="438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16B84"/>
                </a:solidFill>
                <a:latin typeface="Arial"/>
                <a:ea typeface="Arial"/>
                <a:cs typeface="Arial"/>
              </a:defRPr>
            </a:pPr>
            <a:r>
              <a:rPr sz="1725" b="0">
                <a:solidFill>
                  <a:srgbClr val="516B84"/>
                </a:solidFill>
                <a:latin typeface="Arial"/>
                <a:ea typeface="Arial"/>
                <a:cs typeface="Arial"/>
              </a:rPr>
              <a:t>100 random seed (1000–1099)</a:t>
            </a:r>
          </a:p>
        </p:txBody>
      </p:sp>
      <p:sp>
        <p:nvSpPr>
          <p:cNvPr id="13" name="">
            <a:extLst xmlns:a="http://schemas.openxmlformats.org/drawingml/2006/main">
              <a:ext uri="{FF2B5EF4-FFF2-40B4-BE49-F238E27FC236}">
                <a16:creationId xmlns:a16="http://schemas.microsoft.com/office/drawing/2014/main" id="{D7BCA516-3D4F-41D9-A864-60D43E69B2FF}"/>
              </a:ext>
            </a:extLst>
          </p:cNvPr>
          <p:cNvSpPr>
            <a:spLocks xmlns:a="http://schemas.openxmlformats.org/drawingml/2006/main" noGrp="1"/>
          </p:cNvSpPr>
          <p:nvPr/>
        </p:nvSpPr>
        <p:spPr>
          <a:xfrm xmlns:a="http://schemas.openxmlformats.org/drawingml/2006/main">
            <a:off x="5400675" y="5276850"/>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16B84"/>
                </a:solidFill>
                <a:latin typeface="Arial"/>
                <a:ea typeface="Arial"/>
                <a:cs typeface="Arial"/>
              </a:defRPr>
            </a:pPr>
            <a:r>
              <a:rPr sz="1725" b="0">
                <a:solidFill>
                  <a:srgbClr val="516B84"/>
                </a:solidFill>
                <a:latin typeface="Arial"/>
                <a:ea typeface="Arial"/>
                <a:cs typeface="Arial"/>
              </a:rPr>
              <a:t>Dao động: 4–17 lỗi</a:t>
            </a:r>
          </a:p>
        </p:txBody>
      </p:sp>
      <p:sp>
        <p:nvSpPr>
          <p:cNvPr id="14" name="">
            <a:extLst xmlns:a="http://schemas.openxmlformats.org/drawingml/2006/main">
              <a:ext uri="{FF2B5EF4-FFF2-40B4-BE49-F238E27FC236}">
                <a16:creationId xmlns:a16="http://schemas.microsoft.com/office/drawing/2014/main" id="{27F21895-A368-41E3-9C42-1FBA2318E5A1}"/>
              </a:ext>
            </a:extLst>
          </p:cNvPr>
          <p:cNvSpPr>
            <a:spLocks xmlns:a="http://schemas.openxmlformats.org/drawingml/2006/main" noGrp="1"/>
          </p:cNvSpPr>
          <p:nvPr/>
        </p:nvSpPr>
        <p:spPr>
          <a:xfrm xmlns:a="http://schemas.openxmlformats.org/drawingml/2006/main">
            <a:off x="666750" y="58293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516B84"/>
                </a:solidFill>
                <a:latin typeface="Arial"/>
                <a:ea typeface="Arial"/>
                <a:cs typeface="Arial"/>
              </a:defRPr>
            </a:pPr>
            <a:r>
              <a:rPr sz="1500" b="0">
                <a:solidFill>
                  <a:srgbClr val="516B84"/>
                </a:solidFill>
                <a:latin typeface="Arial"/>
                <a:ea typeface="Arial"/>
                <a:cs typeface="Arial"/>
              </a:rPr>
              <a:t>Random không biết ảnh nào đáng nghi, nên phần lớn lượt xem lại không gặp lỗi.</a:t>
            </a:r>
          </a:p>
        </p:txBody>
      </p:sp>
    </p:spTree>
    <p:extLst>
      <p:ext uri="{BB962C8B-B14F-4D97-AF65-F5344CB8AC3E}">
        <p14:creationId xmlns:p14="http://schemas.microsoft.com/office/powerpoint/2010/main" val="855445669"/>
      </p:ext>
    </p:extLst>
  </p:cSld>
</p:sld>
</file>

<file path=ppt/slides/slide3.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6183AD2-19C6-413F-9D4B-8A90C1FEB97D}"/>
              </a:ext>
            </a:extLst>
          </p:cNvPr>
          <p:cNvSpPr>
            <a:spLocks xmlns:a="http://schemas.openxmlformats.org/drawingml/2006/main" noGrp="1"/>
          </p:cNvSpPr>
          <p:nvPr/>
        </p:nvSpPr>
        <p:spPr>
          <a:xfrm xmlns:a="http://schemas.openxmlformats.org/drawingml/2006/main">
            <a:off x="666750" y="2857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a:solidFill>
                  <a:srgbClr val="1E65A5"/>
                </a:solidFill>
                <a:latin typeface="Arial"/>
                <a:ea typeface="Arial"/>
                <a:cs typeface="Arial"/>
              </a:defRPr>
            </a:pPr>
            <a:r>
              <a:rPr sz="1200" b="1">
                <a:solidFill>
                  <a:srgbClr val="1E65A5"/>
                </a:solidFill>
                <a:latin typeface="Arial"/>
                <a:ea typeface="Arial"/>
                <a:cs typeface="Arial"/>
              </a:rPr>
              <a:t>C1  /  SOLUTION</a:t>
            </a:r>
          </a:p>
        </p:txBody>
      </p:sp>
      <p:sp>
        <p:nvSpPr>
          <p:cNvPr id="2" name="">
            <a:extLst xmlns:a="http://schemas.openxmlformats.org/drawingml/2006/main">
              <a:ext uri="{FF2B5EF4-FFF2-40B4-BE49-F238E27FC236}">
                <a16:creationId xmlns:a16="http://schemas.microsoft.com/office/drawing/2014/main" id="{E9C584BB-9E2F-45F9-AC7A-9E20B47CEEB1}"/>
              </a:ext>
            </a:extLst>
          </p:cNvPr>
          <p:cNvSpPr>
            <a:spLocks xmlns:a="http://schemas.openxmlformats.org/drawingml/2006/main" noGrp="1"/>
          </p:cNvSpPr>
          <p:nvPr/>
        </p:nvSpPr>
        <p:spPr>
          <a:xfrm xmlns:a="http://schemas.openxmlformats.org/drawingml/2006/main">
            <a:off x="666750" y="685800"/>
            <a:ext cx="1076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73A63"/>
                </a:solidFill>
                <a:latin typeface="Arial"/>
                <a:ea typeface="Arial"/>
                <a:cs typeface="Arial"/>
              </a:defRPr>
            </a:pPr>
            <a:r>
              <a:rPr sz="3150" b="1">
                <a:solidFill>
                  <a:srgbClr val="173A63"/>
                </a:solidFill>
                <a:latin typeface="Arial"/>
                <a:ea typeface="Arial"/>
                <a:cs typeface="Arial"/>
              </a:rPr>
              <a:t>Solution: ảnh nào có nhãn đáng nghi?</a:t>
            </a:r>
          </a:p>
        </p:txBody>
      </p:sp>
      <p:sp>
        <p:nvSpPr>
          <p:cNvPr id="3" name="">
            <a:extLst xmlns:a="http://schemas.openxmlformats.org/drawingml/2006/main">
              <a:ext uri="{FF2B5EF4-FFF2-40B4-BE49-F238E27FC236}">
                <a16:creationId xmlns:a16="http://schemas.microsoft.com/office/drawing/2014/main" id="{E62FEA52-32E1-4809-8B84-B8B498F3A6EC}"/>
              </a:ext>
            </a:extLst>
          </p:cNvPr>
          <p:cNvSpPr>
            <a:spLocks xmlns:a="http://schemas.openxmlformats.org/drawingml/2006/main" noGrp="1"/>
          </p:cNvSpPr>
          <p:nvPr/>
        </p:nvSpPr>
        <p:spPr>
          <a:xfrm xmlns:a="http://schemas.openxmlformats.org/drawingml/2006/main">
            <a:off x="666750" y="1524000"/>
            <a:ext cx="10858500" cy="19050"/>
          </a:xfrm>
          <a:prstGeom xmlns:a="http://schemas.openxmlformats.org/drawingml/2006/main" prst="rect">
            <a:avLst/>
          </a:prstGeom>
          <a:solidFill xmlns:a="http://schemas.openxmlformats.org/drawingml/2006/main">
            <a:srgbClr val="B8D0E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5AEC84E-9A08-4B7E-9DAD-754C76846CFE}"/>
              </a:ext>
            </a:extLst>
          </p:cNvPr>
          <p:cNvSpPr>
            <a:spLocks xmlns:a="http://schemas.openxmlformats.org/drawingml/2006/main" noGrp="1"/>
          </p:cNvSpPr>
          <p:nvPr/>
        </p:nvSpPr>
        <p:spPr>
          <a:xfrm xmlns:a="http://schemas.openxmlformats.org/drawingml/2006/main">
            <a:off x="10572750" y="635317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516B84"/>
                </a:solidFill>
                <a:latin typeface="Arial"/>
                <a:ea typeface="Arial"/>
                <a:cs typeface="Arial"/>
              </a:defRPr>
            </a:pPr>
            <a:r>
              <a:rPr sz="1200" b="0">
                <a:solidFill>
                  <a:srgbClr val="516B84"/>
                </a:solidFill>
                <a:latin typeface="Arial"/>
                <a:ea typeface="Arial"/>
                <a:cs typeface="Arial"/>
              </a:rPr>
              <a:t>03 / 05</a:t>
            </a:r>
          </a:p>
        </p:txBody>
      </p:sp>
      <p:sp>
        <p:nvSpPr>
          <p:cNvPr id="5" name="">
            <a:extLst xmlns:a="http://schemas.openxmlformats.org/drawingml/2006/main">
              <a:ext uri="{FF2B5EF4-FFF2-40B4-BE49-F238E27FC236}">
                <a16:creationId xmlns:a16="http://schemas.microsoft.com/office/drawing/2014/main" id="{2103F6D9-F8E3-4EB9-AB17-2ED53251AC0A}"/>
              </a:ext>
            </a:extLst>
          </p:cNvPr>
          <p:cNvSpPr>
            <a:spLocks xmlns:a="http://schemas.openxmlformats.org/drawingml/2006/main" noGrp="1"/>
          </p:cNvSpPr>
          <p:nvPr/>
        </p:nvSpPr>
        <p:spPr>
          <a:xfrm xmlns:a="http://schemas.openxmlformats.org/drawingml/2006/main">
            <a:off x="666750" y="1885950"/>
            <a:ext cx="323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173A63"/>
                </a:solidFill>
                <a:latin typeface="Arial"/>
                <a:ea typeface="Arial"/>
                <a:cs typeface="Arial"/>
              </a:defRPr>
            </a:pPr>
            <a:r>
              <a:rPr sz="1800" b="1">
                <a:solidFill>
                  <a:srgbClr val="173A63"/>
                </a:solidFill>
                <a:latin typeface="Arial"/>
                <a:ea typeface="Arial"/>
                <a:cs typeface="Arial"/>
              </a:rPr>
              <a:t>8.000 ảnh development</a:t>
            </a:r>
          </a:p>
        </p:txBody>
      </p:sp>
      <p:sp>
        <p:nvSpPr>
          <p:cNvPr id="6" name="">
            <a:extLst xmlns:a="http://schemas.openxmlformats.org/drawingml/2006/main">
              <a:ext uri="{FF2B5EF4-FFF2-40B4-BE49-F238E27FC236}">
                <a16:creationId xmlns:a16="http://schemas.microsoft.com/office/drawing/2014/main" id="{5F26781B-75E8-417C-8A49-7161AB9A5530}"/>
              </a:ext>
            </a:extLst>
          </p:cNvPr>
          <p:cNvSpPr>
            <a:spLocks xmlns:a="http://schemas.openxmlformats.org/drawingml/2006/main" noGrp="1"/>
          </p:cNvSpPr>
          <p:nvPr/>
        </p:nvSpPr>
        <p:spPr>
          <a:xfrm xmlns:a="http://schemas.openxmlformats.org/drawingml/2006/main">
            <a:off x="4029075" y="1866900"/>
            <a:ext cx="47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1E65A5"/>
                </a:solidFill>
                <a:latin typeface="Arial"/>
                <a:ea typeface="Arial"/>
                <a:cs typeface="Arial"/>
              </a:defRPr>
            </a:pPr>
            <a:r>
              <a:rPr sz="2325" b="1">
                <a:solidFill>
                  <a:srgbClr val="1E65A5"/>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C59412F5-3493-459C-B442-9E2006167A0E}"/>
              </a:ext>
            </a:extLst>
          </p:cNvPr>
          <p:cNvSpPr>
            <a:spLocks xmlns:a="http://schemas.openxmlformats.org/drawingml/2006/main" noGrp="1"/>
          </p:cNvSpPr>
          <p:nvPr/>
        </p:nvSpPr>
        <p:spPr>
          <a:xfrm xmlns:a="http://schemas.openxmlformats.org/drawingml/2006/main">
            <a:off x="4610100" y="1885950"/>
            <a:ext cx="3181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173A63"/>
                </a:solidFill>
                <a:latin typeface="Arial"/>
                <a:ea typeface="Arial"/>
                <a:cs typeface="Arial"/>
              </a:defRPr>
            </a:pPr>
            <a:r>
              <a:rPr sz="1800" b="1">
                <a:solidFill>
                  <a:srgbClr val="173A63"/>
                </a:solidFill>
                <a:latin typeface="Arial"/>
                <a:ea typeface="Arial"/>
                <a:cs typeface="Arial"/>
              </a:rPr>
              <a:t>15 ảnh giống nhất</a:t>
            </a:r>
          </a:p>
        </p:txBody>
      </p:sp>
      <p:sp>
        <p:nvSpPr>
          <p:cNvPr id="8" name="">
            <a:extLst xmlns:a="http://schemas.openxmlformats.org/drawingml/2006/main">
              <a:ext uri="{FF2B5EF4-FFF2-40B4-BE49-F238E27FC236}">
                <a16:creationId xmlns:a16="http://schemas.microsoft.com/office/drawing/2014/main" id="{6DF6DC8F-909B-4B75-95ED-B320E146913A}"/>
              </a:ext>
            </a:extLst>
          </p:cNvPr>
          <p:cNvSpPr>
            <a:spLocks xmlns:a="http://schemas.openxmlformats.org/drawingml/2006/main" noGrp="1"/>
          </p:cNvSpPr>
          <p:nvPr/>
        </p:nvSpPr>
        <p:spPr>
          <a:xfrm xmlns:a="http://schemas.openxmlformats.org/drawingml/2006/main">
            <a:off x="7905750" y="1866900"/>
            <a:ext cx="47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1E65A5"/>
                </a:solidFill>
                <a:latin typeface="Arial"/>
                <a:ea typeface="Arial"/>
                <a:cs typeface="Arial"/>
              </a:defRPr>
            </a:pPr>
            <a:r>
              <a:rPr sz="2325" b="1">
                <a:solidFill>
                  <a:srgbClr val="1E65A5"/>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EC20A1F9-FFD4-4E94-B652-B576D89458E2}"/>
              </a:ext>
            </a:extLst>
          </p:cNvPr>
          <p:cNvSpPr>
            <a:spLocks xmlns:a="http://schemas.openxmlformats.org/drawingml/2006/main" noGrp="1"/>
          </p:cNvSpPr>
          <p:nvPr/>
        </p:nvSpPr>
        <p:spPr>
          <a:xfrm xmlns:a="http://schemas.openxmlformats.org/drawingml/2006/main">
            <a:off x="8477250" y="188595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173A63"/>
                </a:solidFill>
                <a:latin typeface="Arial"/>
                <a:ea typeface="Arial"/>
                <a:cs typeface="Arial"/>
              </a:defRPr>
            </a:pPr>
            <a:r>
              <a:rPr sz="1800" b="1">
                <a:solidFill>
                  <a:srgbClr val="173A63"/>
                </a:solidFill>
                <a:latin typeface="Arial"/>
                <a:ea typeface="Arial"/>
                <a:cs typeface="Arial"/>
              </a:rPr>
              <a:t>Xếp hạng top 100</a:t>
            </a:r>
          </a:p>
        </p:txBody>
      </p:sp>
      <p:sp>
        <p:nvSpPr>
          <p:cNvPr id="10" name="">
            <a:extLst xmlns:a="http://schemas.openxmlformats.org/drawingml/2006/main">
              <a:ext uri="{FF2B5EF4-FFF2-40B4-BE49-F238E27FC236}">
                <a16:creationId xmlns:a16="http://schemas.microsoft.com/office/drawing/2014/main" id="{3A506951-344A-4B4A-8EA9-2A3EDED8DBC6}"/>
              </a:ext>
            </a:extLst>
          </p:cNvPr>
          <p:cNvSpPr>
            <a:spLocks xmlns:a="http://schemas.openxmlformats.org/drawingml/2006/main" noGrp="1"/>
          </p:cNvSpPr>
          <p:nvPr/>
        </p:nvSpPr>
        <p:spPr>
          <a:xfrm xmlns:a="http://schemas.openxmlformats.org/drawingml/2006/main">
            <a:off x="666750" y="2400300"/>
            <a:ext cx="10763250" cy="19050"/>
          </a:xfrm>
          <a:prstGeom xmlns:a="http://schemas.openxmlformats.org/drawingml/2006/main" prst="rect">
            <a:avLst/>
          </a:prstGeom>
          <a:solidFill xmlns:a="http://schemas.openxmlformats.org/drawingml/2006/main">
            <a:srgbClr val="B8D0E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F4B8A29-E785-45CB-8332-9B195F19753B}"/>
              </a:ext>
            </a:extLst>
          </p:cNvPr>
          <p:cNvSpPr>
            <a:spLocks xmlns:a="http://schemas.openxmlformats.org/drawingml/2006/main" noGrp="1"/>
          </p:cNvSpPr>
          <p:nvPr/>
        </p:nvSpPr>
        <p:spPr>
          <a:xfrm xmlns:a="http://schemas.openxmlformats.org/drawingml/2006/main">
            <a:off x="666750" y="2609850"/>
            <a:ext cx="10382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183153"/>
                </a:solidFill>
                <a:latin typeface="Arial"/>
                <a:ea typeface="Arial"/>
                <a:cs typeface="Arial"/>
              </a:defRPr>
            </a:pPr>
            <a:r>
              <a:rPr sz="2025" b="0">
                <a:solidFill>
                  <a:srgbClr val="183153"/>
                </a:solidFill>
                <a:latin typeface="Arial"/>
                <a:ea typeface="Arial"/>
                <a:cs typeface="Arial"/>
              </a:rPr>
              <a:t>Mỗi ảnh được thu nhỏ thành 14×14 pixel. Các ảnh gần giống bỏ phiếu cho nhãn có khả năng đúng.</a:t>
            </a:r>
          </a:p>
        </p:txBody>
      </p:sp>
      <p:sp>
        <p:nvSpPr>
          <p:cNvPr id="12" name="">
            <a:extLst xmlns:a="http://schemas.openxmlformats.org/drawingml/2006/main">
              <a:ext uri="{FF2B5EF4-FFF2-40B4-BE49-F238E27FC236}">
                <a16:creationId xmlns:a16="http://schemas.microsoft.com/office/drawing/2014/main" id="{B56AAC87-0EE4-438A-B3F5-82CEF91B9516}"/>
              </a:ext>
            </a:extLst>
          </p:cNvPr>
          <p:cNvSpPr>
            <a:spLocks xmlns:a="http://schemas.openxmlformats.org/drawingml/2006/main" noGrp="1"/>
          </p:cNvSpPr>
          <p:nvPr/>
        </p:nvSpPr>
        <p:spPr>
          <a:xfrm xmlns:a="http://schemas.openxmlformats.org/drawingml/2006/main">
            <a:off x="666750" y="34575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1E65A5"/>
                </a:solidFill>
                <a:latin typeface="Arial"/>
                <a:ea typeface="Arial"/>
                <a:cs typeface="Arial"/>
              </a:defRPr>
            </a:pPr>
            <a:r>
              <a:rPr sz="2250" b="1">
                <a:solidFill>
                  <a:srgbClr val="1E65A5"/>
                </a:solidFill>
                <a:latin typeface="Arial"/>
                <a:ea typeface="Arial"/>
                <a:cs typeface="Arial"/>
              </a:rPr>
              <a:t>Điểm đáng nghi = 1 − P(nhãn hiện tại | 15 ảnh gần nhất)</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c45f637444bf4ae7"/>
          <a:stretch xmlns:a="http://schemas.openxmlformats.org/drawingml/2006/main"/>
        </p:blipFill>
        <p:spPr>
          <a:xfrm xmlns:a="http://schemas.openxmlformats.org/drawingml/2006/main">
            <a:off x="685800" y="4381500"/>
            <a:ext cx="1285875" cy="12858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A93ADA89-24E8-45DB-8418-ECD492CF94D9}"/>
              </a:ext>
            </a:extLst>
          </p:cNvPr>
          <p:cNvSpPr>
            <a:spLocks xmlns:a="http://schemas.openxmlformats.org/drawingml/2006/main" noGrp="1"/>
          </p:cNvSpPr>
          <p:nvPr/>
        </p:nvSpPr>
        <p:spPr>
          <a:xfrm xmlns:a="http://schemas.openxmlformats.org/drawingml/2006/main">
            <a:off x="2209800" y="44672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516B84"/>
                </a:solidFill>
                <a:latin typeface="Arial"/>
                <a:ea typeface="Arial"/>
                <a:cs typeface="Arial"/>
              </a:defRPr>
            </a:pPr>
            <a:r>
              <a:rPr sz="1500" b="1">
                <a:solidFill>
                  <a:srgbClr val="516B84"/>
                </a:solidFill>
                <a:latin typeface="Arial"/>
                <a:ea typeface="Arial"/>
                <a:cs typeface="Arial"/>
              </a:rPr>
              <a:t>Ảnh #33007</a:t>
            </a:r>
          </a:p>
        </p:txBody>
      </p:sp>
      <p:sp>
        <p:nvSpPr>
          <p:cNvPr id="15" name="">
            <a:extLst xmlns:a="http://schemas.openxmlformats.org/drawingml/2006/main">
              <a:ext uri="{FF2B5EF4-FFF2-40B4-BE49-F238E27FC236}">
                <a16:creationId xmlns:a16="http://schemas.microsoft.com/office/drawing/2014/main" id="{38D6784B-683A-4E8B-8833-396786AC5FF1}"/>
              </a:ext>
            </a:extLst>
          </p:cNvPr>
          <p:cNvSpPr>
            <a:spLocks xmlns:a="http://schemas.openxmlformats.org/drawingml/2006/main" noGrp="1"/>
          </p:cNvSpPr>
          <p:nvPr/>
        </p:nvSpPr>
        <p:spPr>
          <a:xfrm xmlns:a="http://schemas.openxmlformats.org/drawingml/2006/main">
            <a:off x="2209800" y="484822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B83336"/>
                </a:solidFill>
                <a:latin typeface="Arial"/>
                <a:ea typeface="Arial"/>
                <a:cs typeface="Arial"/>
              </a:defRPr>
            </a:pPr>
            <a:r>
              <a:rPr sz="1800" b="1">
                <a:solidFill>
                  <a:srgbClr val="B83336"/>
                </a:solidFill>
                <a:latin typeface="Arial"/>
                <a:ea typeface="Arial"/>
                <a:cs typeface="Arial"/>
              </a:rPr>
              <a:t>Nhãn hiện tại: T-shirt/top</a:t>
            </a:r>
          </a:p>
        </p:txBody>
      </p:sp>
      <p:sp>
        <p:nvSpPr>
          <p:cNvPr id="16" name="">
            <a:extLst xmlns:a="http://schemas.openxmlformats.org/drawingml/2006/main">
              <a:ext uri="{FF2B5EF4-FFF2-40B4-BE49-F238E27FC236}">
                <a16:creationId xmlns:a16="http://schemas.microsoft.com/office/drawing/2014/main" id="{B63F29E5-D414-423A-BA9E-C25B8567CBF7}"/>
              </a:ext>
            </a:extLst>
          </p:cNvPr>
          <p:cNvSpPr>
            <a:spLocks xmlns:a="http://schemas.openxmlformats.org/drawingml/2006/main" noGrp="1"/>
          </p:cNvSpPr>
          <p:nvPr/>
        </p:nvSpPr>
        <p:spPr>
          <a:xfrm xmlns:a="http://schemas.openxmlformats.org/drawingml/2006/main">
            <a:off x="2209800" y="5276850"/>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2F7955"/>
                </a:solidFill>
                <a:latin typeface="Arial"/>
                <a:ea typeface="Arial"/>
                <a:cs typeface="Arial"/>
              </a:defRPr>
            </a:pPr>
            <a:r>
              <a:rPr sz="1800" b="1">
                <a:solidFill>
                  <a:srgbClr val="2F7955"/>
                </a:solidFill>
                <a:latin typeface="Arial"/>
                <a:ea typeface="Arial"/>
                <a:cs typeface="Arial"/>
              </a:rPr>
              <a:t>Nhãn tham chiếu: Shirt</a:t>
            </a:r>
          </a:p>
        </p:txBody>
      </p:sp>
      <p:sp>
        <p:nvSpPr>
          <p:cNvPr id="17" name="">
            <a:extLst xmlns:a="http://schemas.openxmlformats.org/drawingml/2006/main">
              <a:ext uri="{FF2B5EF4-FFF2-40B4-BE49-F238E27FC236}">
                <a16:creationId xmlns:a16="http://schemas.microsoft.com/office/drawing/2014/main" id="{7B0D1BB3-9986-4421-A141-3EF40EF0664F}"/>
              </a:ext>
            </a:extLst>
          </p:cNvPr>
          <p:cNvSpPr>
            <a:spLocks xmlns:a="http://schemas.openxmlformats.org/drawingml/2006/main" noGrp="1"/>
          </p:cNvSpPr>
          <p:nvPr/>
        </p:nvSpPr>
        <p:spPr>
          <a:xfrm xmlns:a="http://schemas.openxmlformats.org/drawingml/2006/main">
            <a:off x="685800" y="5924550"/>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516B84"/>
                </a:solidFill>
                <a:latin typeface="Arial"/>
                <a:ea typeface="Arial"/>
                <a:cs typeface="Arial"/>
              </a:defRPr>
            </a:pPr>
            <a:r>
              <a:rPr sz="1425" b="0">
                <a:solidFill>
                  <a:srgbClr val="516B84"/>
                </a:solidFill>
                <a:latin typeface="Arial"/>
                <a:ea typeface="Arial"/>
                <a:cs typeface="Arial"/>
              </a:rPr>
              <a:t>Demo offline: đổi giữa hàng chờ của nhóm và random, rồi hiện đáp án.</a:t>
            </a:r>
          </a:p>
        </p:txBody>
      </p:sp>
    </p:spTree>
    <p:extLst>
      <p:ext uri="{BB962C8B-B14F-4D97-AF65-F5344CB8AC3E}">
        <p14:creationId xmlns:p14="http://schemas.microsoft.com/office/powerpoint/2010/main" val="553369090"/>
      </p:ext>
    </p:extLst>
  </p:cSld>
</p:sld>
</file>

<file path=ppt/slides/slide4.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E144767-3AB5-48D2-96F0-C0BC2873007A}"/>
              </a:ext>
            </a:extLst>
          </p:cNvPr>
          <p:cNvSpPr>
            <a:spLocks xmlns:a="http://schemas.openxmlformats.org/drawingml/2006/main" noGrp="1"/>
          </p:cNvSpPr>
          <p:nvPr/>
        </p:nvSpPr>
        <p:spPr>
          <a:xfrm xmlns:a="http://schemas.openxmlformats.org/drawingml/2006/main">
            <a:off x="666750" y="2857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a:solidFill>
                  <a:srgbClr val="1E65A5"/>
                </a:solidFill>
                <a:latin typeface="Arial"/>
                <a:ea typeface="Arial"/>
                <a:cs typeface="Arial"/>
              </a:defRPr>
            </a:pPr>
            <a:r>
              <a:rPr sz="1200" b="1">
                <a:solidFill>
                  <a:srgbClr val="1E65A5"/>
                </a:solidFill>
                <a:latin typeface="Arial"/>
                <a:ea typeface="Arial"/>
                <a:cs typeface="Arial"/>
              </a:rPr>
              <a:t>C1  /  EVIDENCE</a:t>
            </a:r>
          </a:p>
        </p:txBody>
      </p:sp>
      <p:sp>
        <p:nvSpPr>
          <p:cNvPr id="2" name="">
            <a:extLst xmlns:a="http://schemas.openxmlformats.org/drawingml/2006/main">
              <a:ext uri="{FF2B5EF4-FFF2-40B4-BE49-F238E27FC236}">
                <a16:creationId xmlns:a16="http://schemas.microsoft.com/office/drawing/2014/main" id="{0424BEBB-C8A5-41C0-81D6-73802F89E513}"/>
              </a:ext>
            </a:extLst>
          </p:cNvPr>
          <p:cNvSpPr>
            <a:spLocks xmlns:a="http://schemas.openxmlformats.org/drawingml/2006/main" noGrp="1"/>
          </p:cNvSpPr>
          <p:nvPr/>
        </p:nvSpPr>
        <p:spPr>
          <a:xfrm xmlns:a="http://schemas.openxmlformats.org/drawingml/2006/main">
            <a:off x="666750" y="685800"/>
            <a:ext cx="1076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73A63"/>
                </a:solidFill>
                <a:latin typeface="Arial"/>
                <a:ea typeface="Arial"/>
                <a:cs typeface="Arial"/>
              </a:defRPr>
            </a:pPr>
            <a:r>
              <a:rPr sz="3150" b="1">
                <a:solidFill>
                  <a:srgbClr val="173A63"/>
                </a:solidFill>
                <a:latin typeface="Arial"/>
                <a:ea typeface="Arial"/>
                <a:cs typeface="Arial"/>
              </a:rPr>
              <a:t>Evidence: 78 lỗi trong 100 ảnh được chọn</a:t>
            </a:r>
          </a:p>
        </p:txBody>
      </p:sp>
      <p:sp>
        <p:nvSpPr>
          <p:cNvPr id="3" name="">
            <a:extLst xmlns:a="http://schemas.openxmlformats.org/drawingml/2006/main">
              <a:ext uri="{FF2B5EF4-FFF2-40B4-BE49-F238E27FC236}">
                <a16:creationId xmlns:a16="http://schemas.microsoft.com/office/drawing/2014/main" id="{5ABAEFC7-1B13-4A51-BE7C-71EA87531E93}"/>
              </a:ext>
            </a:extLst>
          </p:cNvPr>
          <p:cNvSpPr>
            <a:spLocks xmlns:a="http://schemas.openxmlformats.org/drawingml/2006/main" noGrp="1"/>
          </p:cNvSpPr>
          <p:nvPr/>
        </p:nvSpPr>
        <p:spPr>
          <a:xfrm xmlns:a="http://schemas.openxmlformats.org/drawingml/2006/main">
            <a:off x="666750" y="1524000"/>
            <a:ext cx="10858500" cy="19050"/>
          </a:xfrm>
          <a:prstGeom xmlns:a="http://schemas.openxmlformats.org/drawingml/2006/main" prst="rect">
            <a:avLst/>
          </a:prstGeom>
          <a:solidFill xmlns:a="http://schemas.openxmlformats.org/drawingml/2006/main">
            <a:srgbClr val="B8D0E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42CD610-C0B6-4332-8DA7-9202868836AA}"/>
              </a:ext>
            </a:extLst>
          </p:cNvPr>
          <p:cNvSpPr>
            <a:spLocks xmlns:a="http://schemas.openxmlformats.org/drawingml/2006/main" noGrp="1"/>
          </p:cNvSpPr>
          <p:nvPr/>
        </p:nvSpPr>
        <p:spPr>
          <a:xfrm xmlns:a="http://schemas.openxmlformats.org/drawingml/2006/main">
            <a:off x="10572750" y="635317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516B84"/>
                </a:solidFill>
                <a:latin typeface="Arial"/>
                <a:ea typeface="Arial"/>
                <a:cs typeface="Arial"/>
              </a:defRPr>
            </a:pPr>
            <a:r>
              <a:rPr sz="1200" b="0">
                <a:solidFill>
                  <a:srgbClr val="516B84"/>
                </a:solidFill>
                <a:latin typeface="Arial"/>
                <a:ea typeface="Arial"/>
                <a:cs typeface="Arial"/>
              </a:rPr>
              <a:t>04 / 05</a:t>
            </a:r>
          </a:p>
        </p:txBody>
      </p:sp>
      <p:sp>
        <p:nvSpPr>
          <p:cNvPr id="5" name="">
            <a:extLst xmlns:a="http://schemas.openxmlformats.org/drawingml/2006/main">
              <a:ext uri="{FF2B5EF4-FFF2-40B4-BE49-F238E27FC236}">
                <a16:creationId xmlns:a16="http://schemas.microsoft.com/office/drawing/2014/main" id="{000B2AA0-9286-4A4D-A301-1B791350F486}"/>
              </a:ext>
            </a:extLst>
          </p:cNvPr>
          <p:cNvSpPr>
            <a:spLocks xmlns:a="http://schemas.openxmlformats.org/drawingml/2006/main" noGrp="1"/>
          </p:cNvSpPr>
          <p:nvPr/>
        </p:nvSpPr>
        <p:spPr>
          <a:xfrm xmlns:a="http://schemas.openxmlformats.org/drawingml/2006/main">
            <a:off x="666750" y="1838325"/>
            <a:ext cx="304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475" b="1">
                <a:solidFill>
                  <a:srgbClr val="1E65A5"/>
                </a:solidFill>
                <a:latin typeface="Arial"/>
                <a:ea typeface="Arial"/>
                <a:cs typeface="Arial"/>
              </a:defRPr>
            </a:pPr>
            <a:r>
              <a:rPr sz="5475" b="1">
                <a:solidFill>
                  <a:srgbClr val="1E65A5"/>
                </a:solidFill>
                <a:latin typeface="Arial"/>
                <a:ea typeface="Arial"/>
                <a:cs typeface="Arial"/>
              </a:rPr>
              <a:t>39,0%</a:t>
            </a:r>
          </a:p>
        </p:txBody>
      </p:sp>
      <p:sp>
        <p:nvSpPr>
          <p:cNvPr id="6" name="">
            <a:extLst xmlns:a="http://schemas.openxmlformats.org/drawingml/2006/main">
              <a:ext uri="{FF2B5EF4-FFF2-40B4-BE49-F238E27FC236}">
                <a16:creationId xmlns:a16="http://schemas.microsoft.com/office/drawing/2014/main" id="{AF6117D3-19BA-4814-B6D9-B1532EA41E3D}"/>
              </a:ext>
            </a:extLst>
          </p:cNvPr>
          <p:cNvSpPr>
            <a:spLocks xmlns:a="http://schemas.openxmlformats.org/drawingml/2006/main" noGrp="1"/>
          </p:cNvSpPr>
          <p:nvPr/>
        </p:nvSpPr>
        <p:spPr>
          <a:xfrm xmlns:a="http://schemas.openxmlformats.org/drawingml/2006/main">
            <a:off x="666750" y="278130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183153"/>
                </a:solidFill>
                <a:latin typeface="Arial"/>
                <a:ea typeface="Arial"/>
                <a:cs typeface="Arial"/>
              </a:defRPr>
            </a:pPr>
            <a:r>
              <a:rPr sz="1725" b="0">
                <a:solidFill>
                  <a:srgbClr val="183153"/>
                </a:solidFill>
                <a:latin typeface="Arial"/>
                <a:ea typeface="Arial"/>
                <a:cs typeface="Arial"/>
              </a:rPr>
              <a:t>Recall@5% của nhóm</a:t>
            </a:r>
          </a:p>
        </p:txBody>
      </p:sp>
      <p:sp>
        <p:nvSpPr>
          <p:cNvPr id="7" name="">
            <a:extLst xmlns:a="http://schemas.openxmlformats.org/drawingml/2006/main">
              <a:ext uri="{FF2B5EF4-FFF2-40B4-BE49-F238E27FC236}">
                <a16:creationId xmlns:a16="http://schemas.microsoft.com/office/drawing/2014/main" id="{F34DFEEB-FDC1-4E44-B8A7-FFA0EB9ECE52}"/>
              </a:ext>
            </a:extLst>
          </p:cNvPr>
          <p:cNvSpPr>
            <a:spLocks xmlns:a="http://schemas.openxmlformats.org/drawingml/2006/main" noGrp="1"/>
          </p:cNvSpPr>
          <p:nvPr/>
        </p:nvSpPr>
        <p:spPr>
          <a:xfrm xmlns:a="http://schemas.openxmlformats.org/drawingml/2006/main">
            <a:off x="4791075" y="1838325"/>
            <a:ext cx="31718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475" b="1">
                <a:solidFill>
                  <a:srgbClr val="516B84"/>
                </a:solidFill>
                <a:latin typeface="Arial"/>
                <a:ea typeface="Arial"/>
                <a:cs typeface="Arial"/>
              </a:defRPr>
            </a:pPr>
            <a:r>
              <a:rPr sz="5475" b="1">
                <a:solidFill>
                  <a:srgbClr val="516B84"/>
                </a:solidFill>
                <a:latin typeface="Arial"/>
                <a:ea typeface="Arial"/>
                <a:cs typeface="Arial"/>
              </a:rPr>
              <a:t>4,82%</a:t>
            </a:r>
          </a:p>
        </p:txBody>
      </p:sp>
      <p:sp>
        <p:nvSpPr>
          <p:cNvPr id="8" name="">
            <a:extLst xmlns:a="http://schemas.openxmlformats.org/drawingml/2006/main">
              <a:ext uri="{FF2B5EF4-FFF2-40B4-BE49-F238E27FC236}">
                <a16:creationId xmlns:a16="http://schemas.microsoft.com/office/drawing/2014/main" id="{6B545921-F022-44BA-A790-A6C00692EFEC}"/>
              </a:ext>
            </a:extLst>
          </p:cNvPr>
          <p:cNvSpPr>
            <a:spLocks xmlns:a="http://schemas.openxmlformats.org/drawingml/2006/main" noGrp="1"/>
          </p:cNvSpPr>
          <p:nvPr/>
        </p:nvSpPr>
        <p:spPr>
          <a:xfrm xmlns:a="http://schemas.openxmlformats.org/drawingml/2006/main">
            <a:off x="4791075" y="278130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183153"/>
                </a:solidFill>
                <a:latin typeface="Arial"/>
                <a:ea typeface="Arial"/>
                <a:cs typeface="Arial"/>
              </a:defRPr>
            </a:pPr>
            <a:r>
              <a:rPr sz="1725" b="0">
                <a:solidFill>
                  <a:srgbClr val="183153"/>
                </a:solidFill>
                <a:latin typeface="Arial"/>
                <a:ea typeface="Arial"/>
                <a:cs typeface="Arial"/>
              </a:rPr>
              <a:t>Recall@5% random</a:t>
            </a:r>
          </a:p>
        </p:txBody>
      </p:sp>
      <p:sp>
        <p:nvSpPr>
          <p:cNvPr id="9" name="">
            <a:extLst xmlns:a="http://schemas.openxmlformats.org/drawingml/2006/main">
              <a:ext uri="{FF2B5EF4-FFF2-40B4-BE49-F238E27FC236}">
                <a16:creationId xmlns:a16="http://schemas.microsoft.com/office/drawing/2014/main" id="{BEF77AB2-D79A-4EDD-B75B-0D8CD4B9BE25}"/>
              </a:ext>
            </a:extLst>
          </p:cNvPr>
          <p:cNvSpPr>
            <a:spLocks xmlns:a="http://schemas.openxmlformats.org/drawingml/2006/main" noGrp="1"/>
          </p:cNvSpPr>
          <p:nvPr/>
        </p:nvSpPr>
        <p:spPr>
          <a:xfrm xmlns:a="http://schemas.openxmlformats.org/drawingml/2006/main">
            <a:off x="9248775" y="2000250"/>
            <a:ext cx="21812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3975" b="1">
                <a:solidFill>
                  <a:srgbClr val="173A63"/>
                </a:solidFill>
                <a:latin typeface="Arial"/>
                <a:ea typeface="Arial"/>
                <a:cs typeface="Arial"/>
              </a:defRPr>
            </a:pPr>
            <a:r>
              <a:rPr sz="3975" b="1">
                <a:solidFill>
                  <a:srgbClr val="173A63"/>
                </a:solidFill>
                <a:latin typeface="Arial"/>
                <a:ea typeface="Arial"/>
                <a:cs typeface="Arial"/>
              </a:rPr>
              <a:t>8,1×</a:t>
            </a:r>
          </a:p>
        </p:txBody>
      </p:sp>
      <p:sp>
        <p:nvSpPr>
          <p:cNvPr id="10" name="">
            <a:extLst xmlns:a="http://schemas.openxmlformats.org/drawingml/2006/main">
              <a:ext uri="{FF2B5EF4-FFF2-40B4-BE49-F238E27FC236}">
                <a16:creationId xmlns:a16="http://schemas.microsoft.com/office/drawing/2014/main" id="{4CA93D02-E18A-457B-848C-9EF5084D3B6C}"/>
              </a:ext>
            </a:extLst>
          </p:cNvPr>
          <p:cNvSpPr>
            <a:spLocks xmlns:a="http://schemas.openxmlformats.org/drawingml/2006/main" noGrp="1"/>
          </p:cNvSpPr>
          <p:nvPr/>
        </p:nvSpPr>
        <p:spPr>
          <a:xfrm xmlns:a="http://schemas.openxmlformats.org/drawingml/2006/main">
            <a:off x="9667875" y="27813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500" b="0">
                <a:solidFill>
                  <a:srgbClr val="516B84"/>
                </a:solidFill>
                <a:latin typeface="Arial"/>
                <a:ea typeface="Arial"/>
                <a:cs typeface="Arial"/>
              </a:defRPr>
            </a:pPr>
            <a:r>
              <a:rPr sz="1500" b="0">
                <a:solidFill>
                  <a:srgbClr val="516B84"/>
                </a:solidFill>
                <a:latin typeface="Arial"/>
                <a:ea typeface="Arial"/>
                <a:cs typeface="Arial"/>
              </a:rPr>
              <a:t>recall</a:t>
            </a:r>
          </a:p>
        </p:txBody>
      </p:sp>
      <p:sp>
        <p:nvSpPr>
          <p:cNvPr id="11" name="">
            <a:extLst xmlns:a="http://schemas.openxmlformats.org/drawingml/2006/main">
              <a:ext uri="{FF2B5EF4-FFF2-40B4-BE49-F238E27FC236}">
                <a16:creationId xmlns:a16="http://schemas.microsoft.com/office/drawing/2014/main" id="{3673FCDD-ACF8-4F6A-B2F5-2A78C556C2C1}"/>
              </a:ext>
            </a:extLst>
          </p:cNvPr>
          <p:cNvSpPr>
            <a:spLocks xmlns:a="http://schemas.openxmlformats.org/drawingml/2006/main" noGrp="1"/>
          </p:cNvSpPr>
          <p:nvPr/>
        </p:nvSpPr>
        <p:spPr>
          <a:xfrm xmlns:a="http://schemas.openxmlformats.org/drawingml/2006/main">
            <a:off x="666750" y="3324225"/>
            <a:ext cx="10763250" cy="19050"/>
          </a:xfrm>
          <a:prstGeom xmlns:a="http://schemas.openxmlformats.org/drawingml/2006/main" prst="rect">
            <a:avLst/>
          </a:prstGeom>
          <a:solidFill xmlns:a="http://schemas.openxmlformats.org/drawingml/2006/main">
            <a:srgbClr val="B8D0E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8DD2A8C-618E-4418-A1F8-B7A272B107C6}"/>
              </a:ext>
            </a:extLst>
          </p:cNvPr>
          <p:cNvSpPr>
            <a:spLocks xmlns:a="http://schemas.openxmlformats.org/drawingml/2006/main" noGrp="1"/>
          </p:cNvSpPr>
          <p:nvPr/>
        </p:nvSpPr>
        <p:spPr>
          <a:xfrm xmlns:a="http://schemas.openxmlformats.org/drawingml/2006/main">
            <a:off x="666750" y="3533775"/>
            <a:ext cx="609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173A63"/>
                </a:solidFill>
                <a:latin typeface="Arial"/>
                <a:ea typeface="Arial"/>
                <a:cs typeface="Arial"/>
              </a:defRPr>
            </a:pPr>
            <a:r>
              <a:rPr sz="1800" b="1">
                <a:solidFill>
                  <a:srgbClr val="173A63"/>
                </a:solidFill>
                <a:latin typeface="Arial"/>
                <a:ea typeface="Arial"/>
                <a:cs typeface="Arial"/>
              </a:rPr>
              <a:t>Recall theo loại lỗi (%)</a:t>
            </a:r>
          </a:p>
        </p:txBody>
      </p:sp>
      <p:graphicFrame>
        <p:nvGraphicFramePr>
          <p:cNvPr id="29" name="Chart"/>
          <p:cNvGraphicFramePr/>
          <p:nvPr/>
        </p:nvGraphicFramePr>
        <p:xfrm>
          <a:off xmlns:a="http://schemas.openxmlformats.org/drawingml/2006/main" x="600075" y="3933825"/>
          <a:ext xmlns:a="http://schemas.openxmlformats.org/drawingml/2006/main" cx="7400925" cy="2114550"/>
        </p:xfrm>
        <a:graphic xmlns:a="http://schemas.openxmlformats.org/drawingml/2006/main">
          <a:graphicData uri="http://schemas.openxmlformats.org/drawingml/2006/chart">
            <c:chart xmlns:r="http://schemas.openxmlformats.org/officeDocument/2006/relationships" xmlns:c="http://schemas.openxmlformats.org/drawingml/2006/chart" r:id="R0a54de032af44fea"/>
          </a:graphicData>
        </a:graphic>
      </p:graphicFrame>
      <p:sp>
        <p:nvSpPr>
          <p:cNvPr id="14" name="">
            <a:extLst xmlns:a="http://schemas.openxmlformats.org/drawingml/2006/main">
              <a:ext uri="{FF2B5EF4-FFF2-40B4-BE49-F238E27FC236}">
                <a16:creationId xmlns:a16="http://schemas.microsoft.com/office/drawing/2014/main" id="{7F62234A-FE60-418E-B7E1-9AF1E374773D}"/>
              </a:ext>
            </a:extLst>
          </p:cNvPr>
          <p:cNvSpPr>
            <a:spLocks xmlns:a="http://schemas.openxmlformats.org/drawingml/2006/main" noGrp="1"/>
          </p:cNvSpPr>
          <p:nvPr/>
        </p:nvSpPr>
        <p:spPr>
          <a:xfrm xmlns:a="http://schemas.openxmlformats.org/drawingml/2006/main">
            <a:off x="8353425" y="38195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B83336"/>
                </a:solidFill>
                <a:latin typeface="Arial"/>
                <a:ea typeface="Arial"/>
                <a:cs typeface="Arial"/>
              </a:defRPr>
            </a:pPr>
            <a:r>
              <a:rPr sz="1500" b="1">
                <a:solidFill>
                  <a:srgbClr val="B83336"/>
                </a:solidFill>
                <a:latin typeface="Arial"/>
                <a:ea typeface="Arial"/>
                <a:cs typeface="Arial"/>
              </a:rPr>
              <a:t>Failure case</a:t>
            </a:r>
          </a:p>
        </p:txBody>
      </p:sp>
      <p:sp>
        <p:nvSpPr>
          <p:cNvPr id="15" name="">
            <a:extLst xmlns:a="http://schemas.openxmlformats.org/drawingml/2006/main">
              <a:ext uri="{FF2B5EF4-FFF2-40B4-BE49-F238E27FC236}">
                <a16:creationId xmlns:a16="http://schemas.microsoft.com/office/drawing/2014/main" id="{E55C76A6-FF8F-4259-AAFB-E51C4F472E01}"/>
              </a:ext>
            </a:extLst>
          </p:cNvPr>
          <p:cNvSpPr>
            <a:spLocks xmlns:a="http://schemas.openxmlformats.org/drawingml/2006/main" noGrp="1"/>
          </p:cNvSpPr>
          <p:nvPr/>
        </p:nvSpPr>
        <p:spPr>
          <a:xfrm xmlns:a="http://schemas.openxmlformats.org/drawingml/2006/main">
            <a:off x="8353425" y="4238625"/>
            <a:ext cx="29146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183153"/>
                </a:solidFill>
                <a:latin typeface="Arial"/>
                <a:ea typeface="Arial"/>
                <a:cs typeface="Arial"/>
              </a:defRPr>
            </a:pPr>
            <a:r>
              <a:rPr sz="1725" b="1">
                <a:solidFill>
                  <a:srgbClr val="183153"/>
                </a:solidFill>
                <a:latin typeface="Arial"/>
                <a:ea typeface="Arial"/>
                <a:cs typeface="Arial"/>
              </a:rPr>
              <a:t>Chỉ 6/80 lỗi Shirt → T-shirt/top được tìm thấy.</a:t>
            </a:r>
          </a:p>
        </p:txBody>
      </p:sp>
      <p:sp>
        <p:nvSpPr>
          <p:cNvPr id="16" name="">
            <a:extLst xmlns:a="http://schemas.openxmlformats.org/drawingml/2006/main">
              <a:ext uri="{FF2B5EF4-FFF2-40B4-BE49-F238E27FC236}">
                <a16:creationId xmlns:a16="http://schemas.microsoft.com/office/drawing/2014/main" id="{0A0FC742-A4F3-4311-A960-662430B0DC37}"/>
              </a:ext>
            </a:extLst>
          </p:cNvPr>
          <p:cNvSpPr>
            <a:spLocks xmlns:a="http://schemas.openxmlformats.org/drawingml/2006/main" noGrp="1"/>
          </p:cNvSpPr>
          <p:nvPr/>
        </p:nvSpPr>
        <p:spPr>
          <a:xfrm xmlns:a="http://schemas.openxmlformats.org/drawingml/2006/main">
            <a:off x="8353425" y="5353050"/>
            <a:ext cx="29146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16B84"/>
                </a:solidFill>
                <a:latin typeface="Arial"/>
                <a:ea typeface="Arial"/>
                <a:cs typeface="Arial"/>
              </a:defRPr>
            </a:pPr>
            <a:r>
              <a:rPr sz="1350" b="0">
                <a:solidFill>
                  <a:srgbClr val="516B84"/>
                </a:solidFill>
                <a:latin typeface="Arial"/>
                <a:ea typeface="Arial"/>
                <a:cs typeface="Arial"/>
              </a:rPr>
              <a:t>Stress: recall 52% khi lỗi 5%; 22,5% khi lỗi 20%.</a:t>
            </a:r>
          </a:p>
        </p:txBody>
      </p:sp>
    </p:spTree>
    <p:extLst>
      <p:ext uri="{BB962C8B-B14F-4D97-AF65-F5344CB8AC3E}">
        <p14:creationId xmlns:p14="http://schemas.microsoft.com/office/powerpoint/2010/main" val="1013431132"/>
      </p:ext>
    </p:extLst>
  </p:cSld>
</p:sld>
</file>

<file path=ppt/slides/slide5.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BE64AE8-636A-44B7-8AF3-7616BBE8CE04}"/>
              </a:ext>
            </a:extLst>
          </p:cNvPr>
          <p:cNvSpPr>
            <a:spLocks xmlns:a="http://schemas.openxmlformats.org/drawingml/2006/main" noGrp="1"/>
          </p:cNvSpPr>
          <p:nvPr/>
        </p:nvSpPr>
        <p:spPr>
          <a:xfrm xmlns:a="http://schemas.openxmlformats.org/drawingml/2006/main">
            <a:off x="666750" y="2857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a:solidFill>
                  <a:srgbClr val="1E65A5"/>
                </a:solidFill>
                <a:latin typeface="Arial"/>
                <a:ea typeface="Arial"/>
                <a:cs typeface="Arial"/>
              </a:defRPr>
            </a:pPr>
            <a:r>
              <a:rPr sz="1200" b="1">
                <a:solidFill>
                  <a:srgbClr val="1E65A5"/>
                </a:solidFill>
                <a:latin typeface="Arial"/>
                <a:ea typeface="Arial"/>
                <a:cs typeface="Arial"/>
              </a:rPr>
              <a:t>C1  /  DECISION</a:t>
            </a:r>
          </a:p>
        </p:txBody>
      </p:sp>
      <p:sp>
        <p:nvSpPr>
          <p:cNvPr id="2" name="">
            <a:extLst xmlns:a="http://schemas.openxmlformats.org/drawingml/2006/main">
              <a:ext uri="{FF2B5EF4-FFF2-40B4-BE49-F238E27FC236}">
                <a16:creationId xmlns:a16="http://schemas.microsoft.com/office/drawing/2014/main" id="{DEECDD7A-74C4-4AA4-91F7-D6496AB7C77D}"/>
              </a:ext>
            </a:extLst>
          </p:cNvPr>
          <p:cNvSpPr>
            <a:spLocks xmlns:a="http://schemas.openxmlformats.org/drawingml/2006/main" noGrp="1"/>
          </p:cNvSpPr>
          <p:nvPr/>
        </p:nvSpPr>
        <p:spPr>
          <a:xfrm xmlns:a="http://schemas.openxmlformats.org/drawingml/2006/main">
            <a:off x="666750" y="685800"/>
            <a:ext cx="1076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73A63"/>
                </a:solidFill>
                <a:latin typeface="Arial"/>
                <a:ea typeface="Arial"/>
                <a:cs typeface="Arial"/>
              </a:defRPr>
            </a:pPr>
            <a:r>
              <a:rPr sz="3150" b="1">
                <a:solidFill>
                  <a:srgbClr val="173A63"/>
                </a:solidFill>
                <a:latin typeface="Arial"/>
                <a:ea typeface="Arial"/>
                <a:cs typeface="Arial"/>
              </a:rPr>
              <a:t>Decision: Rework trước khi triển khai thật</a:t>
            </a:r>
          </a:p>
        </p:txBody>
      </p:sp>
      <p:sp>
        <p:nvSpPr>
          <p:cNvPr id="3" name="">
            <a:extLst xmlns:a="http://schemas.openxmlformats.org/drawingml/2006/main">
              <a:ext uri="{FF2B5EF4-FFF2-40B4-BE49-F238E27FC236}">
                <a16:creationId xmlns:a16="http://schemas.microsoft.com/office/drawing/2014/main" id="{54AAFFC7-179F-4919-99DA-E81818284866}"/>
              </a:ext>
            </a:extLst>
          </p:cNvPr>
          <p:cNvSpPr>
            <a:spLocks xmlns:a="http://schemas.openxmlformats.org/drawingml/2006/main" noGrp="1"/>
          </p:cNvSpPr>
          <p:nvPr/>
        </p:nvSpPr>
        <p:spPr>
          <a:xfrm xmlns:a="http://schemas.openxmlformats.org/drawingml/2006/main">
            <a:off x="666750" y="1524000"/>
            <a:ext cx="10858500" cy="19050"/>
          </a:xfrm>
          <a:prstGeom xmlns:a="http://schemas.openxmlformats.org/drawingml/2006/main" prst="rect">
            <a:avLst/>
          </a:prstGeom>
          <a:solidFill xmlns:a="http://schemas.openxmlformats.org/drawingml/2006/main">
            <a:srgbClr val="B8D0E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DF7CD1F-E9E6-4A10-8715-82C26C2C3485}"/>
              </a:ext>
            </a:extLst>
          </p:cNvPr>
          <p:cNvSpPr>
            <a:spLocks xmlns:a="http://schemas.openxmlformats.org/drawingml/2006/main" noGrp="1"/>
          </p:cNvSpPr>
          <p:nvPr/>
        </p:nvSpPr>
        <p:spPr>
          <a:xfrm xmlns:a="http://schemas.openxmlformats.org/drawingml/2006/main">
            <a:off x="10572750" y="635317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516B84"/>
                </a:solidFill>
                <a:latin typeface="Arial"/>
                <a:ea typeface="Arial"/>
                <a:cs typeface="Arial"/>
              </a:defRPr>
            </a:pPr>
            <a:r>
              <a:rPr sz="1200" b="0">
                <a:solidFill>
                  <a:srgbClr val="516B84"/>
                </a:solidFill>
                <a:latin typeface="Arial"/>
                <a:ea typeface="Arial"/>
                <a:cs typeface="Arial"/>
              </a:rPr>
              <a:t>05 / 05</a:t>
            </a:r>
          </a:p>
        </p:txBody>
      </p:sp>
      <p:sp>
        <p:nvSpPr>
          <p:cNvPr id="5" name="">
            <a:extLst xmlns:a="http://schemas.openxmlformats.org/drawingml/2006/main">
              <a:ext uri="{FF2B5EF4-FFF2-40B4-BE49-F238E27FC236}">
                <a16:creationId xmlns:a16="http://schemas.microsoft.com/office/drawing/2014/main" id="{719716CD-FE45-426D-86D2-2A0C9C19E646}"/>
              </a:ext>
            </a:extLst>
          </p:cNvPr>
          <p:cNvSpPr>
            <a:spLocks xmlns:a="http://schemas.openxmlformats.org/drawingml/2006/main" noGrp="1"/>
          </p:cNvSpPr>
          <p:nvPr/>
        </p:nvSpPr>
        <p:spPr>
          <a:xfrm xmlns:a="http://schemas.openxmlformats.org/drawingml/2006/main">
            <a:off x="666750" y="1847850"/>
            <a:ext cx="4857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875" b="1">
                <a:solidFill>
                  <a:srgbClr val="B83336"/>
                </a:solidFill>
                <a:latin typeface="Arial"/>
                <a:ea typeface="Arial"/>
                <a:cs typeface="Arial"/>
              </a:defRPr>
            </a:pPr>
            <a:r>
              <a:rPr sz="4875" b="1">
                <a:solidFill>
                  <a:srgbClr val="B83336"/>
                </a:solidFill>
                <a:latin typeface="Arial"/>
                <a:ea typeface="Arial"/>
                <a:cs typeface="Arial"/>
              </a:rPr>
              <a:t>REWORK</a:t>
            </a:r>
          </a:p>
        </p:txBody>
      </p:sp>
      <p:sp>
        <p:nvSpPr>
          <p:cNvPr id="6" name="">
            <a:extLst xmlns:a="http://schemas.openxmlformats.org/drawingml/2006/main">
              <a:ext uri="{FF2B5EF4-FFF2-40B4-BE49-F238E27FC236}">
                <a16:creationId xmlns:a16="http://schemas.microsoft.com/office/drawing/2014/main" id="{0AF16CEC-051E-4D40-AC88-058065381AED}"/>
              </a:ext>
            </a:extLst>
          </p:cNvPr>
          <p:cNvSpPr>
            <a:spLocks xmlns:a="http://schemas.openxmlformats.org/drawingml/2006/main" noGrp="1"/>
          </p:cNvSpPr>
          <p:nvPr/>
        </p:nvSpPr>
        <p:spPr>
          <a:xfrm xmlns:a="http://schemas.openxmlformats.org/drawingml/2006/main">
            <a:off x="666750" y="2752725"/>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183153"/>
                </a:solidFill>
                <a:latin typeface="Arial"/>
                <a:ea typeface="Arial"/>
                <a:cs typeface="Arial"/>
              </a:defRPr>
            </a:pPr>
            <a:r>
              <a:rPr sz="2175" b="0">
                <a:solidFill>
                  <a:srgbClr val="183153"/>
                </a:solidFill>
                <a:latin typeface="Arial"/>
                <a:ea typeface="Arial"/>
                <a:cs typeface="Arial"/>
              </a:rPr>
              <a:t>Ranking vượt random, nhưng chưa đủ tin cậy cho lỗi có hệ thống.</a:t>
            </a:r>
          </a:p>
        </p:txBody>
      </p:sp>
      <p:sp>
        <p:nvSpPr>
          <p:cNvPr id="7" name="">
            <a:extLst xmlns:a="http://schemas.openxmlformats.org/drawingml/2006/main">
              <a:ext uri="{FF2B5EF4-FFF2-40B4-BE49-F238E27FC236}">
                <a16:creationId xmlns:a16="http://schemas.microsoft.com/office/drawing/2014/main" id="{8FA85CBC-6D80-44E1-9FF9-4A4CA4783A0F}"/>
              </a:ext>
            </a:extLst>
          </p:cNvPr>
          <p:cNvSpPr>
            <a:spLocks xmlns:a="http://schemas.openxmlformats.org/drawingml/2006/main" noGrp="1"/>
          </p:cNvSpPr>
          <p:nvPr/>
        </p:nvSpPr>
        <p:spPr>
          <a:xfrm xmlns:a="http://schemas.openxmlformats.org/drawingml/2006/main">
            <a:off x="666750" y="3676650"/>
            <a:ext cx="10763250" cy="19050"/>
          </a:xfrm>
          <a:prstGeom xmlns:a="http://schemas.openxmlformats.org/drawingml/2006/main" prst="rect">
            <a:avLst/>
          </a:prstGeom>
          <a:solidFill xmlns:a="http://schemas.openxmlformats.org/drawingml/2006/main">
            <a:srgbClr val="B8D0E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E1D6CB9-D12B-4862-9108-445640E1130D}"/>
              </a:ext>
            </a:extLst>
          </p:cNvPr>
          <p:cNvSpPr>
            <a:spLocks xmlns:a="http://schemas.openxmlformats.org/drawingml/2006/main" noGrp="1"/>
          </p:cNvSpPr>
          <p:nvPr/>
        </p:nvSpPr>
        <p:spPr>
          <a:xfrm xmlns:a="http://schemas.openxmlformats.org/drawingml/2006/main">
            <a:off x="666750" y="3914775"/>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1E65A5"/>
                </a:solidFill>
                <a:latin typeface="Arial"/>
                <a:ea typeface="Arial"/>
                <a:cs typeface="Arial"/>
              </a:defRPr>
            </a:pPr>
            <a:r>
              <a:rPr sz="1575" b="1">
                <a:solidFill>
                  <a:srgbClr val="1E65A5"/>
                </a:solidFill>
                <a:latin typeface="Arial"/>
                <a:ea typeface="Arial"/>
                <a:cs typeface="Arial"/>
              </a:rPr>
              <a:t>Điểm mạnh</a:t>
            </a:r>
          </a:p>
        </p:txBody>
      </p:sp>
      <p:sp>
        <p:nvSpPr>
          <p:cNvPr id="9" name="">
            <a:extLst xmlns:a="http://schemas.openxmlformats.org/drawingml/2006/main">
              <a:ext uri="{FF2B5EF4-FFF2-40B4-BE49-F238E27FC236}">
                <a16:creationId xmlns:a16="http://schemas.microsoft.com/office/drawing/2014/main" id="{1514B284-6D13-4DDC-AECC-93EEC6A6B3EB}"/>
              </a:ext>
            </a:extLst>
          </p:cNvPr>
          <p:cNvSpPr>
            <a:spLocks xmlns:a="http://schemas.openxmlformats.org/drawingml/2006/main" noGrp="1"/>
          </p:cNvSpPr>
          <p:nvPr/>
        </p:nvSpPr>
        <p:spPr>
          <a:xfrm xmlns:a="http://schemas.openxmlformats.org/drawingml/2006/main">
            <a:off x="666750" y="4352925"/>
            <a:ext cx="476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183153"/>
                </a:solidFill>
                <a:latin typeface="Arial"/>
                <a:ea typeface="Arial"/>
                <a:cs typeface="Arial"/>
              </a:defRPr>
            </a:pPr>
            <a:r>
              <a:rPr sz="1800" b="0">
                <a:solidFill>
                  <a:srgbClr val="183153"/>
                </a:solidFill>
                <a:latin typeface="Arial"/>
                <a:ea typeface="Arial"/>
                <a:cs typeface="Arial"/>
              </a:rPr>
              <a:t>78 lỗi / 100 lượt review; random trung bình 9,64.</a:t>
            </a:r>
          </a:p>
        </p:txBody>
      </p:sp>
      <p:sp>
        <p:nvSpPr>
          <p:cNvPr id="10" name="">
            <a:extLst xmlns:a="http://schemas.openxmlformats.org/drawingml/2006/main">
              <a:ext uri="{FF2B5EF4-FFF2-40B4-BE49-F238E27FC236}">
                <a16:creationId xmlns:a16="http://schemas.microsoft.com/office/drawing/2014/main" id="{BFA1F079-A3E8-4D76-8883-45A8A9AF729D}"/>
              </a:ext>
            </a:extLst>
          </p:cNvPr>
          <p:cNvSpPr>
            <a:spLocks xmlns:a="http://schemas.openxmlformats.org/drawingml/2006/main" noGrp="1"/>
          </p:cNvSpPr>
          <p:nvPr/>
        </p:nvSpPr>
        <p:spPr>
          <a:xfrm xmlns:a="http://schemas.openxmlformats.org/drawingml/2006/main">
            <a:off x="6200775" y="3914775"/>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B83336"/>
                </a:solidFill>
                <a:latin typeface="Arial"/>
                <a:ea typeface="Arial"/>
                <a:cs typeface="Arial"/>
              </a:defRPr>
            </a:pPr>
            <a:r>
              <a:rPr sz="1575" b="1">
                <a:solidFill>
                  <a:srgbClr val="B83336"/>
                </a:solidFill>
                <a:latin typeface="Arial"/>
                <a:ea typeface="Arial"/>
                <a:cs typeface="Arial"/>
              </a:rPr>
              <a:t>Giới hạn</a:t>
            </a:r>
          </a:p>
        </p:txBody>
      </p:sp>
      <p:sp>
        <p:nvSpPr>
          <p:cNvPr id="11" name="">
            <a:extLst xmlns:a="http://schemas.openxmlformats.org/drawingml/2006/main">
              <a:ext uri="{FF2B5EF4-FFF2-40B4-BE49-F238E27FC236}">
                <a16:creationId xmlns:a16="http://schemas.microsoft.com/office/drawing/2014/main" id="{DE1FEDA0-AFAD-4DDB-B2A4-0C71DC748526}"/>
              </a:ext>
            </a:extLst>
          </p:cNvPr>
          <p:cNvSpPr>
            <a:spLocks xmlns:a="http://schemas.openxmlformats.org/drawingml/2006/main" noGrp="1"/>
          </p:cNvSpPr>
          <p:nvPr/>
        </p:nvSpPr>
        <p:spPr>
          <a:xfrm xmlns:a="http://schemas.openxmlformats.org/drawingml/2006/main">
            <a:off x="6200775" y="4352925"/>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183153"/>
                </a:solidFill>
                <a:latin typeface="Arial"/>
                <a:ea typeface="Arial"/>
                <a:cs typeface="Arial"/>
              </a:defRPr>
            </a:pPr>
            <a:r>
              <a:rPr sz="1800" b="0">
                <a:solidFill>
                  <a:srgbClr val="183153"/>
                </a:solidFill>
                <a:latin typeface="Arial"/>
                <a:ea typeface="Arial"/>
                <a:cs typeface="Arial"/>
              </a:rPr>
              <a:t>Chỉ 6/80 lỗi nhầm lớp; dữ liệu là lỗi mô phỏng, chưa đo phút review.</a:t>
            </a:r>
          </a:p>
        </p:txBody>
      </p:sp>
      <p:sp>
        <p:nvSpPr>
          <p:cNvPr id="12" name="">
            <a:extLst xmlns:a="http://schemas.openxmlformats.org/drawingml/2006/main">
              <a:ext uri="{FF2B5EF4-FFF2-40B4-BE49-F238E27FC236}">
                <a16:creationId xmlns:a16="http://schemas.microsoft.com/office/drawing/2014/main" id="{8083D938-881E-46C6-8818-3982FD000D04}"/>
              </a:ext>
            </a:extLst>
          </p:cNvPr>
          <p:cNvSpPr>
            <a:spLocks xmlns:a="http://schemas.openxmlformats.org/drawingml/2006/main" noGrp="1"/>
          </p:cNvSpPr>
          <p:nvPr/>
        </p:nvSpPr>
        <p:spPr>
          <a:xfrm xmlns:a="http://schemas.openxmlformats.org/drawingml/2006/main">
            <a:off x="666750" y="5448300"/>
            <a:ext cx="10763250" cy="19050"/>
          </a:xfrm>
          <a:prstGeom xmlns:a="http://schemas.openxmlformats.org/drawingml/2006/main" prst="rect">
            <a:avLst/>
          </a:prstGeom>
          <a:solidFill xmlns:a="http://schemas.openxmlformats.org/drawingml/2006/main">
            <a:srgbClr val="B8D0E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2BAF51B-FF9A-47E3-821C-DBED3C00405E}"/>
              </a:ext>
            </a:extLst>
          </p:cNvPr>
          <p:cNvSpPr>
            <a:spLocks xmlns:a="http://schemas.openxmlformats.org/drawingml/2006/main" noGrp="1"/>
          </p:cNvSpPr>
          <p:nvPr/>
        </p:nvSpPr>
        <p:spPr>
          <a:xfrm xmlns:a="http://schemas.openxmlformats.org/drawingml/2006/main">
            <a:off x="666750" y="5648325"/>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173A63"/>
                </a:solidFill>
                <a:latin typeface="Arial"/>
                <a:ea typeface="Arial"/>
                <a:cs typeface="Arial"/>
              </a:defRPr>
            </a:pPr>
            <a:r>
              <a:rPr sz="1800" b="1">
                <a:solidFill>
                  <a:srgbClr val="173A63"/>
                </a:solidFill>
                <a:latin typeface="Arial"/>
                <a:ea typeface="Arial"/>
                <a:cs typeface="Arial"/>
              </a:rPr>
              <a:t>Bước tiếp: thêm tín hiệu theo lớp/lô, rồi kiểm chứng trên một tập nhãn thật được phân xử độc lập.</a:t>
            </a:r>
          </a:p>
        </p:txBody>
      </p:sp>
    </p:spTree>
    <p:extLst>
      <p:ext uri="{BB962C8B-B14F-4D97-AF65-F5344CB8AC3E}">
        <p14:creationId xmlns:p14="http://schemas.microsoft.com/office/powerpoint/2010/main" val="7401516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2026-09-24T08:05:55.9100000Z</dcterms:created>
  <dcterms:modified xsi:type="dcterms:W3CDTF">2026-09-24T08:05:55.9100000Z</dcterms:modified>
</coreProperties>
</file>