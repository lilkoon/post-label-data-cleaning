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9cedff38f1d486c" /><Relationship Type="http://schemas.openxmlformats.org/officeDocument/2006/relationships/extended-properties" Target="/docProps/app.xml" Id="Ra986775e40ef4f39" /><Relationship Type="http://schemas.openxmlformats.org/officeDocument/2006/relationships/officeDocument" Target="/ppt/presentation.xml" Id="R1eb8a5a1ee09488c" /></Relationships>
</file>

<file path=ppt/presentation.xml><?xml version="1.0" encoding="utf-8"?>
<p:presentation xmlns:p="http://schemas.openxmlformats.org/presentationml/2006/main">
  <p:sldMasterIdLst>
    <p:sldMasterId xmlns:r="http://schemas.openxmlformats.org/officeDocument/2006/relationships" id="2147483648" r:id="R7fe611a31038472c"/>
  </p:sldMasterIdLst>
  <p:notesMasterIdLst>
    <p:notesMasterId xmlns:r="http://schemas.openxmlformats.org/officeDocument/2006/relationships" r:id="Rc4a78b3078c84482"/>
  </p:notesMasterIdLst>
  <p:sldIdLst>
    <p:sldId xmlns:r="http://schemas.openxmlformats.org/officeDocument/2006/relationships" id="256" r:id="Re5a4c0263b6146a7"/>
    <p:sldId xmlns:r="http://schemas.openxmlformats.org/officeDocument/2006/relationships" id="257" r:id="Rc882b756962f4aab"/>
    <p:sldId xmlns:r="http://schemas.openxmlformats.org/officeDocument/2006/relationships" id="258" r:id="R1d29a23ee41b4d92"/>
    <p:sldId xmlns:r="http://schemas.openxmlformats.org/officeDocument/2006/relationships" id="259" r:id="Rb3c5fda9b27c4042"/>
    <p:sldId xmlns:r="http://schemas.openxmlformats.org/officeDocument/2006/relationships" id="260" r:id="R0fcc7afeebfb49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8484a2bff64539" /><Relationship Type="http://schemas.openxmlformats.org/officeDocument/2006/relationships/slideMaster" Target="/ppt/slideMasters/slideMaster1.xml" Id="R7fe611a31038472c" /><Relationship Type="http://schemas.openxmlformats.org/officeDocument/2006/relationships/notesMaster" Target="/ppt/notesMasters/notesMaster1.xml" Id="Rc4a78b3078c84482" /><Relationship Type="http://schemas.openxmlformats.org/officeDocument/2006/relationships/presProps" Target="/ppt/presProps.xml" Id="R249898d5b1f54bd2" /><Relationship Type="http://schemas.openxmlformats.org/officeDocument/2006/relationships/tableStyles" Target="/ppt/tableStyles.xml" Id="Rc71238b0a69a4065" /><Relationship Type="http://schemas.openxmlformats.org/officeDocument/2006/relationships/slide" Target="/ppt/slides/slide1.xml" Id="Re5a4c0263b6146a7" /><Relationship Type="http://schemas.openxmlformats.org/officeDocument/2006/relationships/slide" Target="/ppt/slides/slide2.xml" Id="Rc882b756962f4aab" /><Relationship Type="http://schemas.openxmlformats.org/officeDocument/2006/relationships/slide" Target="/ppt/slides/slide3.xml" Id="R1d29a23ee41b4d92" /><Relationship Type="http://schemas.openxmlformats.org/officeDocument/2006/relationships/slide" Target="/ppt/slides/slide4.xml" Id="Rb3c5fda9b27c4042" /><Relationship Type="http://schemas.openxmlformats.org/officeDocument/2006/relationships/slide" Target="/ppt/slides/slide5.xml" Id="R0fcc7afeebfb49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2f47c44b2048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df1e6e14044e0b" /><Relationship Type="http://schemas.openxmlformats.org/officeDocument/2006/relationships/notesMaster" Target="/ppt/notesMasters/notesMaster1.xml" Id="Rfde67ab0bca041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49a2fc030b4aab" /><Relationship Type="http://schemas.openxmlformats.org/officeDocument/2006/relationships/notesMaster" Target="/ppt/notesMasters/notesMaster1.xml" Id="Rf62ffdcfc10e48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7b919a86f74bd4" /><Relationship Type="http://schemas.openxmlformats.org/officeDocument/2006/relationships/notesMaster" Target="/ppt/notesMasters/notesMaster1.xml" Id="Ra158b0cce90641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dd0bbf496542d9" /><Relationship Type="http://schemas.openxmlformats.org/officeDocument/2006/relationships/notesMaster" Target="/ppt/notesMasters/notesMaster1.xml" Id="Rec9e571a300a4b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93b4076a9e44d7" /><Relationship Type="http://schemas.openxmlformats.org/officeDocument/2006/relationships/notesMaster" Target="/ppt/notesMasters/notesMaster1.xml" Id="R64bc3e63260149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 Pain point: đội gán nhãn xong một lô ảnh, nhưng chỉ đủ ngân sách kiểm tra 5%. Cần chọn 100/2.000 ảnh để phát hiện nhiều lỗi nhãn thật nhất. Lỗi ảnh hưởng đội huấn luyện và đánh giá mô hình. Benchmark dùng Fashion-MNIST với 200 lỗi tiêm có kiểm soát, không phải tỷ lệ lỗi vendor thật. Giả thuyết: ảnh có nhãn lệch với các ảnh gần giống sẽ đáng kiểm tra hơn. Nguồn dữ liệu: https://github.com/zalandoresearch/fashion-mnist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0:45–1:35. Baseline bắt buộc là random sampling. Cả random và phương pháp nhóm đều chỉ được chọn 100 ảnh trên đúng 2.000 ảnh evaluation. Random chạy 100 seed chốt trước, từ 1000 đến 1099: trung bình 9,64 lỗi; Error Recall@5% = 9,64/200 = 4,82%. Từng lượt dao động 4–17 lỗi. 9,64 là trung bình, không phải số của một lượt. Cách so sánh này tránh chọn seed xấu để làm baseline.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1:35–2:45, gồm demo tối đa 25 giây. Nhóm dùng 8.000 ảnh development, thu ảnh 28×28 xuống 14×14, tìm 15 hàng xóm gần nhất và bỏ phiếu có trọng số. Với mỗi ảnh evaluation, điểm đáng nghi bằng 1 trừ mức ủng hộ nhãn hiện tại; sắp giảm dần và lấy top 100. Detector chỉ nhận ảnh và nhãn hiện tại, không nhận đáp án evaluation. Demo: mở artifacts/demo_scenarios.html, chỉ mốc chính 78 lỗi, bấm Tạo kịch bản khác một lần thấy seed 2000 và 72 lỗi; chọn Random cùng kịch bản thấy 10 lỗi. Đây là kịch bản mô phỏng bổ sung, không thay số đánh giá chính. Nguồn ảnh: https://github.com/zalandoresearch/fashion-mnist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2:45–3:55. Sau khi khóa ranking, đối chiếu đáp án lỗi đã tiêm. Trong top 100 nhóm có 78 ảnh lỗi: Error Recall@5% = 78/200 = 39%, Precision@5% = 78/100 = 78%. Random 100 seed có recall trung bình 4,82%; nhóm cao khoảng 8,1 lần trên benchmark này. Theo loại: 49/80 rải rác, 6/80 Shirt→T-shirt/top, 23/40 theo lô. Kết quả 6/80 là failure case quan trọng. Stress test với 5% lỗi đạt recall 52%, với 20% đạt 22,5%; mẫu số khác nên không so tỷ lệ này như cùng một bài kiểm tra. 30 kịch bản demo thêm dùng lại ảnh evaluation, chỉ để minh họa, không phải test độc lập.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3:55–4:45. Quyết định: Rework. Hàng chờ của nhóm tốt hơn random trên mô phỏng, nhưng bỏ sót 74/80 lỗi nhầm Shirt→T-shirt/top. Ground truth dựa trên nhãn gốc Fashion-MNIST và lỗi tiêm; chưa đo thời gian người review, lỗi tự nhiên hay mô hình sau khi sửa nhãn. Bước tiếp: thêm tín hiệu theo người gán/lô, thử trên development mới, sau đó đánh giá trên một tập thật được hai người xem độc lập và phân xử; đo defects/minute. Không deploy tự động và không đổi ngưỡng sau khi xem đáp án. Dừng trước 5:00, để 15 giây dự phòng.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8ea5c4530b4a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959a7ed1c64d6e" /><Relationship Type="http://schemas.openxmlformats.org/officeDocument/2006/relationships/slideLayout" Target="/ppt/slideLayouts/slideLayout1.xml" Id="Rd5323a7ff6ab40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323a7ff6ab40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e998e9771ec44b9" /><Relationship Type="http://schemas.openxmlformats.org/officeDocument/2006/relationships/notesSlide" Target="/ppt/notesSlides/notesSlide1.xml" Id="Ra86c05ea58b341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c8766f310b4c12" /><Relationship Type="http://schemas.openxmlformats.org/officeDocument/2006/relationships/notesSlide" Target="/ppt/notesSlides/notesSlide2.xml" Id="R25eb401a1df74d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7a3b65f9ceb4d71" /><Relationship Type="http://schemas.openxmlformats.org/officeDocument/2006/relationships/image" Target="/ppt/media/image.png" Id="R14950e0818ba4e5d" /><Relationship Type="http://schemas.openxmlformats.org/officeDocument/2006/relationships/notesSlide" Target="/ppt/notesSlides/notesSlide3.xml" Id="R575b31d371b640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b47fb3437845e1" /><Relationship Type="http://schemas.openxmlformats.org/officeDocument/2006/relationships/chart" Target="/ppt/slides/charts/chart1.xml" Id="Redecc00f64c84788" /><Relationship Type="http://schemas.openxmlformats.org/officeDocument/2006/relationships/notesSlide" Target="/ppt/notesSlides/notesSlide4.xml" Id="Ra49922dc35c940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47cbccef9884660" /><Relationship Type="http://schemas.openxmlformats.org/officeDocument/2006/relationships/notesSlide" Target="/ppt/notesSlides/notesSlide5.xml" Id="Rc37f79144c17442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Random</c:v>
          </c:tx>
          <c:spPr>
            <a:solidFill xmlns:a="http://schemas.openxmlformats.org/drawingml/2006/main">
              <a:srgbClr val="B8D0E5"/>
            </a:solidFill>
          </c:spPr>
          <c:cat>
            <c:strRef>
              <c:f>'Chart Data'!$A$2:$A$4</c:f>
              <c:strCache>
                <c:ptCount val="3"/>
                <c:pt idx="0">
                  <c:v>Rải rác</c:v>
                </c:pt>
                <c:pt idx="1">
                  <c:v>Nhầm 2 lớp</c:v>
                </c:pt>
                <c:pt idx="2">
                  <c:v>Theo lô</c:v>
                </c:pt>
              </c:strCache>
            </c:strRef>
          </c:cat>
          <c:val>
            <c:numRef>
              <c:f>'Chart Data'!$B$2:$B$4</c:f>
              <c:numCache>
                <c:formatCode>General</c:formatCode>
                <c:ptCount val="3"/>
                <c:pt idx="0">
                  <c:v>4.675</c:v>
                </c:pt>
                <c:pt idx="1">
                  <c:v>5.0875</c:v>
                </c:pt>
                <c:pt idx="2">
                  <c:v>4.575</c:v>
                </c:pt>
              </c:numCache>
            </c:numRef>
          </c:val>
        </c:ser>
        <c:ser>
          <c:idx val="1"/>
          <c:order val="1"/>
          <c:tx>
            <c:v>Nhóm</c:v>
          </c:tx>
          <c:spPr>
            <a:solidFill xmlns:a="http://schemas.openxmlformats.org/drawingml/2006/main">
              <a:srgbClr val="1E65A5"/>
            </a:solidFill>
          </c:spPr>
          <c:cat>
            <c:strRef>
              <c:f>'Chart Data'!$C$2:$C$4</c:f>
              <c:strCache>
                <c:ptCount val="3"/>
                <c:pt idx="0">
                  <c:v>Rải rác</c:v>
                </c:pt>
                <c:pt idx="1">
                  <c:v>Nhầm 2 lớp</c:v>
                </c:pt>
                <c:pt idx="2">
                  <c:v>Theo lô</c:v>
                </c:pt>
              </c:strCache>
            </c:strRef>
          </c:cat>
          <c:val>
            <c:numRef>
              <c:f>'Chart Data'!$D$2:$D$4</c:f>
              <c:numCache>
                <c:formatCode>General</c:formatCode>
                <c:ptCount val="3"/>
                <c:pt idx="0">
                  <c:v>61.25</c:v>
                </c:pt>
                <c:pt idx="1">
                  <c:v>7.5</c:v>
                </c:pt>
                <c:pt idx="2">
                  <c:v>57.5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spPr>
        <a:solidFill xmlns:a="http://schemas.openxmlformats.org/drawingml/2006/main">
          <a:srgbClr val="FAFCFE"/>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latin typeface="Arial"/>
              <a:ea typeface="Arial"/>
              <a:cs typeface="Arial"/>
            </a:defRPr>
          </a:pPr>
        </a:p>
      </c:txPr>
    </c:legend>
    <c:plotVisOnly val="1"/>
  </c:chart>
  <c:spPr>
    <a:solidFill xmlns:a="http://schemas.openxmlformats.org/drawingml/2006/main">
      <a:srgbClr val="FAFCF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9B0D13B-A23C-46C0-9BBA-FB38789DD56E}"/>
              </a:ext>
            </a:extLst>
          </p:cNvPr>
          <p:cNvSpPr>
            <a:spLocks xmlns:a="http://schemas.openxmlformats.org/drawingml/2006/main" noGrp="1"/>
          </p:cNvSpPr>
          <p:nvPr/>
        </p:nvSpPr>
        <p:spPr>
          <a:xfrm xmlns:a="http://schemas.openxmlformats.org/drawingml/2006/main">
            <a:off x="666750" y="2857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1E65A5"/>
                </a:solidFill>
                <a:latin typeface="Arial"/>
                <a:ea typeface="Arial"/>
                <a:cs typeface="Arial"/>
              </a:defRPr>
            </a:pPr>
            <a:r>
              <a:rPr sz="1200" b="1">
                <a:solidFill>
                  <a:srgbClr val="1E65A5"/>
                </a:solidFill>
                <a:latin typeface="Arial"/>
                <a:ea typeface="Arial"/>
                <a:cs typeface="Arial"/>
              </a:rPr>
              <a:t>C1  /  PAIN</a:t>
            </a:r>
          </a:p>
        </p:txBody>
      </p:sp>
      <p:sp>
        <p:nvSpPr>
          <p:cNvPr id="2" name="">
            <a:extLst xmlns:a="http://schemas.openxmlformats.org/drawingml/2006/main">
              <a:ext uri="{FF2B5EF4-FFF2-40B4-BE49-F238E27FC236}">
                <a16:creationId xmlns:a16="http://schemas.microsoft.com/office/drawing/2014/main" id="{D2D2EA10-FBA8-4D3D-91C7-21150798EDEB}"/>
              </a:ext>
            </a:extLst>
          </p:cNvPr>
          <p:cNvSpPr>
            <a:spLocks xmlns:a="http://schemas.openxmlformats.org/drawingml/2006/main" noGrp="1"/>
          </p:cNvSpPr>
          <p:nvPr/>
        </p:nvSpPr>
        <p:spPr>
          <a:xfrm xmlns:a="http://schemas.openxmlformats.org/drawingml/2006/main">
            <a:off x="666750" y="68580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3A63"/>
                </a:solidFill>
                <a:latin typeface="Arial"/>
                <a:ea typeface="Arial"/>
                <a:cs typeface="Arial"/>
              </a:defRPr>
            </a:pPr>
            <a:r>
              <a:rPr sz="3150" b="1">
                <a:solidFill>
                  <a:srgbClr val="173A63"/>
                </a:solidFill>
                <a:latin typeface="Arial"/>
                <a:ea typeface="Arial"/>
                <a:cs typeface="Arial"/>
              </a:rPr>
              <a:t>Chỉ đủ thời gian xem lại 5% ảnh</a:t>
            </a:r>
          </a:p>
        </p:txBody>
      </p:sp>
      <p:sp>
        <p:nvSpPr>
          <p:cNvPr id="3" name="">
            <a:extLst xmlns:a="http://schemas.openxmlformats.org/drawingml/2006/main">
              <a:ext uri="{FF2B5EF4-FFF2-40B4-BE49-F238E27FC236}">
                <a16:creationId xmlns:a16="http://schemas.microsoft.com/office/drawing/2014/main" id="{45A4889C-EF2F-4B1E-B125-2D53F3AF7AAA}"/>
              </a:ext>
            </a:extLst>
          </p:cNvPr>
          <p:cNvSpPr>
            <a:spLocks xmlns:a="http://schemas.openxmlformats.org/drawingml/2006/main" noGrp="1"/>
          </p:cNvSpPr>
          <p:nvPr/>
        </p:nvSpPr>
        <p:spPr>
          <a:xfrm xmlns:a="http://schemas.openxmlformats.org/drawingml/2006/main">
            <a:off x="666750" y="1524000"/>
            <a:ext cx="1085850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3185A2-A645-4839-9436-ED32CD6C6D40}"/>
              </a:ext>
            </a:extLst>
          </p:cNvPr>
          <p:cNvSpPr>
            <a:spLocks xmlns:a="http://schemas.openxmlformats.org/drawingml/2006/main" noGrp="1"/>
          </p:cNvSpPr>
          <p:nvPr/>
        </p:nvSpPr>
        <p:spPr>
          <a:xfrm xmlns:a="http://schemas.openxmlformats.org/drawingml/2006/main">
            <a:off x="10572750" y="63531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16B84"/>
                </a:solidFill>
                <a:latin typeface="Arial"/>
                <a:ea typeface="Arial"/>
                <a:cs typeface="Arial"/>
              </a:defRPr>
            </a:pPr>
            <a:r>
              <a:rPr sz="1200" b="0">
                <a:solidFill>
                  <a:srgbClr val="516B84"/>
                </a:solidFill>
                <a:latin typeface="Arial"/>
                <a:ea typeface="Arial"/>
                <a:cs typeface="Arial"/>
              </a:rPr>
              <a:t>01 / 05</a:t>
            </a:r>
          </a:p>
        </p:txBody>
      </p:sp>
      <p:sp>
        <p:nvSpPr>
          <p:cNvPr id="5" name="">
            <a:extLst xmlns:a="http://schemas.openxmlformats.org/drawingml/2006/main">
              <a:ext uri="{FF2B5EF4-FFF2-40B4-BE49-F238E27FC236}">
                <a16:creationId xmlns:a16="http://schemas.microsoft.com/office/drawing/2014/main" id="{5DF7756B-459A-4B70-A41B-41EA64D2A052}"/>
              </a:ext>
            </a:extLst>
          </p:cNvPr>
          <p:cNvSpPr>
            <a:spLocks xmlns:a="http://schemas.openxmlformats.org/drawingml/2006/main" noGrp="1"/>
          </p:cNvSpPr>
          <p:nvPr/>
        </p:nvSpPr>
        <p:spPr>
          <a:xfrm xmlns:a="http://schemas.openxmlformats.org/drawingml/2006/main">
            <a:off x="666750" y="1828800"/>
            <a:ext cx="1009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83153"/>
                </a:solidFill>
                <a:latin typeface="Arial"/>
                <a:ea typeface="Arial"/>
                <a:cs typeface="Arial"/>
              </a:defRPr>
            </a:pPr>
            <a:r>
              <a:rPr sz="2175" b="0">
                <a:solidFill>
                  <a:srgbClr val="183153"/>
                </a:solidFill>
                <a:latin typeface="Arial"/>
                <a:ea typeface="Arial"/>
                <a:cs typeface="Arial"/>
              </a:rPr>
              <a:t>Lô ảnh sản phẩm đã được gán nhãn; lỗi nhãn có thể làm mô hình học sai.</a:t>
            </a:r>
          </a:p>
        </p:txBody>
      </p:sp>
      <p:sp>
        <p:nvSpPr>
          <p:cNvPr id="6" name="">
            <a:extLst xmlns:a="http://schemas.openxmlformats.org/drawingml/2006/main">
              <a:ext uri="{FF2B5EF4-FFF2-40B4-BE49-F238E27FC236}">
                <a16:creationId xmlns:a16="http://schemas.microsoft.com/office/drawing/2014/main" id="{B0AC9A39-69AB-43F9-BBFE-EF6053FD2CE7}"/>
              </a:ext>
            </a:extLst>
          </p:cNvPr>
          <p:cNvSpPr>
            <a:spLocks xmlns:a="http://schemas.openxmlformats.org/drawingml/2006/main" noGrp="1"/>
          </p:cNvSpPr>
          <p:nvPr/>
        </p:nvSpPr>
        <p:spPr>
          <a:xfrm xmlns:a="http://schemas.openxmlformats.org/drawingml/2006/main">
            <a:off x="666750" y="278130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E65A5"/>
                </a:solidFill>
                <a:latin typeface="Arial"/>
                <a:ea typeface="Arial"/>
                <a:cs typeface="Arial"/>
              </a:defRPr>
            </a:pPr>
            <a:r>
              <a:rPr sz="1350" b="1">
                <a:solidFill>
                  <a:srgbClr val="1E65A5"/>
                </a:solidFill>
                <a:latin typeface="Arial"/>
                <a:ea typeface="Arial"/>
                <a:cs typeface="Arial"/>
              </a:rPr>
              <a:t>Câu hỏi production</a:t>
            </a:r>
          </a:p>
        </p:txBody>
      </p:sp>
      <p:sp>
        <p:nvSpPr>
          <p:cNvPr id="7" name="">
            <a:extLst xmlns:a="http://schemas.openxmlformats.org/drawingml/2006/main">
              <a:ext uri="{FF2B5EF4-FFF2-40B4-BE49-F238E27FC236}">
                <a16:creationId xmlns:a16="http://schemas.microsoft.com/office/drawing/2014/main" id="{AACA5102-9D90-4C10-A92D-C16DDF0B35C3}"/>
              </a:ext>
            </a:extLst>
          </p:cNvPr>
          <p:cNvSpPr>
            <a:spLocks xmlns:a="http://schemas.openxmlformats.org/drawingml/2006/main" noGrp="1"/>
          </p:cNvSpPr>
          <p:nvPr/>
        </p:nvSpPr>
        <p:spPr>
          <a:xfrm xmlns:a="http://schemas.openxmlformats.org/drawingml/2006/main">
            <a:off x="666750" y="3200400"/>
            <a:ext cx="8382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173A63"/>
                </a:solidFill>
                <a:latin typeface="Arial"/>
                <a:ea typeface="Arial"/>
                <a:cs typeface="Arial"/>
              </a:defRPr>
            </a:pPr>
            <a:r>
              <a:rPr sz="2550" b="1">
                <a:solidFill>
                  <a:srgbClr val="173A63"/>
                </a:solidFill>
                <a:latin typeface="Arial"/>
                <a:ea typeface="Arial"/>
                <a:cs typeface="Arial"/>
              </a:rPr>
              <a:t>Nên đưa 100 ảnh nào cho người kiểm tra để tìm nhiều nhãn sai nhất?</a:t>
            </a:r>
          </a:p>
        </p:txBody>
      </p:sp>
      <p:sp>
        <p:nvSpPr>
          <p:cNvPr id="8" name="">
            <a:extLst xmlns:a="http://schemas.openxmlformats.org/drawingml/2006/main">
              <a:ext uri="{FF2B5EF4-FFF2-40B4-BE49-F238E27FC236}">
                <a16:creationId xmlns:a16="http://schemas.microsoft.com/office/drawing/2014/main" id="{0A95B207-627C-4608-AA0D-26335C2DFE7E}"/>
              </a:ext>
            </a:extLst>
          </p:cNvPr>
          <p:cNvSpPr>
            <a:spLocks xmlns:a="http://schemas.openxmlformats.org/drawingml/2006/main" noGrp="1"/>
          </p:cNvSpPr>
          <p:nvPr/>
        </p:nvSpPr>
        <p:spPr>
          <a:xfrm xmlns:a="http://schemas.openxmlformats.org/drawingml/2006/main">
            <a:off x="666750" y="4762500"/>
            <a:ext cx="1076325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2872767-0610-4B40-B6F8-9E178AA3BA3F}"/>
              </a:ext>
            </a:extLst>
          </p:cNvPr>
          <p:cNvSpPr>
            <a:spLocks xmlns:a="http://schemas.openxmlformats.org/drawingml/2006/main" noGrp="1"/>
          </p:cNvSpPr>
          <p:nvPr/>
        </p:nvSpPr>
        <p:spPr>
          <a:xfrm xmlns:a="http://schemas.openxmlformats.org/drawingml/2006/main">
            <a:off x="666750" y="5048250"/>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173A63"/>
                </a:solidFill>
                <a:latin typeface="Arial"/>
                <a:ea typeface="Arial"/>
                <a:cs typeface="Arial"/>
              </a:defRPr>
            </a:pPr>
            <a:r>
              <a:rPr sz="2775" b="1">
                <a:solidFill>
                  <a:srgbClr val="173A63"/>
                </a:solidFill>
                <a:latin typeface="Arial"/>
                <a:ea typeface="Arial"/>
                <a:cs typeface="Arial"/>
              </a:rPr>
              <a:t>2.000 ảnh</a:t>
            </a:r>
          </a:p>
        </p:txBody>
      </p:sp>
      <p:sp>
        <p:nvSpPr>
          <p:cNvPr id="10" name="">
            <a:extLst xmlns:a="http://schemas.openxmlformats.org/drawingml/2006/main">
              <a:ext uri="{FF2B5EF4-FFF2-40B4-BE49-F238E27FC236}">
                <a16:creationId xmlns:a16="http://schemas.microsoft.com/office/drawing/2014/main" id="{36632EC0-94FA-4873-B060-F647E58A3F54}"/>
              </a:ext>
            </a:extLst>
          </p:cNvPr>
          <p:cNvSpPr>
            <a:spLocks xmlns:a="http://schemas.openxmlformats.org/drawingml/2006/main" noGrp="1"/>
          </p:cNvSpPr>
          <p:nvPr/>
        </p:nvSpPr>
        <p:spPr>
          <a:xfrm xmlns:a="http://schemas.openxmlformats.org/drawingml/2006/main">
            <a:off x="3733800" y="5048250"/>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B83336"/>
                </a:solidFill>
                <a:latin typeface="Arial"/>
                <a:ea typeface="Arial"/>
                <a:cs typeface="Arial"/>
              </a:defRPr>
            </a:pPr>
            <a:r>
              <a:rPr sz="2775" b="1">
                <a:solidFill>
                  <a:srgbClr val="B83336"/>
                </a:solidFill>
                <a:latin typeface="Arial"/>
                <a:ea typeface="Arial"/>
                <a:cs typeface="Arial"/>
              </a:rPr>
              <a:t>200 lỗi mô phỏng</a:t>
            </a:r>
          </a:p>
        </p:txBody>
      </p:sp>
      <p:sp>
        <p:nvSpPr>
          <p:cNvPr id="11" name="">
            <a:extLst xmlns:a="http://schemas.openxmlformats.org/drawingml/2006/main">
              <a:ext uri="{FF2B5EF4-FFF2-40B4-BE49-F238E27FC236}">
                <a16:creationId xmlns:a16="http://schemas.microsoft.com/office/drawing/2014/main" id="{82489D91-4FF4-41F3-9E12-8641C7C48AB0}"/>
              </a:ext>
            </a:extLst>
          </p:cNvPr>
          <p:cNvSpPr>
            <a:spLocks xmlns:a="http://schemas.openxmlformats.org/drawingml/2006/main" noGrp="1"/>
          </p:cNvSpPr>
          <p:nvPr/>
        </p:nvSpPr>
        <p:spPr>
          <a:xfrm xmlns:a="http://schemas.openxmlformats.org/drawingml/2006/main">
            <a:off x="7858125" y="5048250"/>
            <a:ext cx="361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1E65A5"/>
                </a:solidFill>
                <a:latin typeface="Arial"/>
                <a:ea typeface="Arial"/>
                <a:cs typeface="Arial"/>
              </a:defRPr>
            </a:pPr>
            <a:r>
              <a:rPr sz="2775" b="1">
                <a:solidFill>
                  <a:srgbClr val="1E65A5"/>
                </a:solidFill>
                <a:latin typeface="Arial"/>
                <a:ea typeface="Arial"/>
                <a:cs typeface="Arial"/>
              </a:rPr>
              <a:t>100 lượt review</a:t>
            </a:r>
          </a:p>
        </p:txBody>
      </p:sp>
      <p:sp>
        <p:nvSpPr>
          <p:cNvPr id="12" name="">
            <a:extLst xmlns:a="http://schemas.openxmlformats.org/drawingml/2006/main">
              <a:ext uri="{FF2B5EF4-FFF2-40B4-BE49-F238E27FC236}">
                <a16:creationId xmlns:a16="http://schemas.microsoft.com/office/drawing/2014/main" id="{B0DE9DE9-BFA9-429A-BDF0-294D28B667EB}"/>
              </a:ext>
            </a:extLst>
          </p:cNvPr>
          <p:cNvSpPr>
            <a:spLocks xmlns:a="http://schemas.openxmlformats.org/drawingml/2006/main" noGrp="1"/>
          </p:cNvSpPr>
          <p:nvPr/>
        </p:nvSpPr>
        <p:spPr>
          <a:xfrm xmlns:a="http://schemas.openxmlformats.org/drawingml/2006/main">
            <a:off x="666750" y="5848350"/>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16B84"/>
                </a:solidFill>
                <a:latin typeface="Arial"/>
                <a:ea typeface="Arial"/>
                <a:cs typeface="Arial"/>
              </a:defRPr>
            </a:pPr>
            <a:r>
              <a:rPr sz="1350" b="0">
                <a:solidFill>
                  <a:srgbClr val="516B84"/>
                </a:solidFill>
                <a:latin typeface="Arial"/>
                <a:ea typeface="Arial"/>
                <a:cs typeface="Arial"/>
              </a:rPr>
              <a:t>Fashion-MNIST · giả thuyết: nhãn lệch với ảnh gần giống dễ sai</a:t>
            </a:r>
          </a:p>
        </p:txBody>
      </p:sp>
    </p:spTree>
    <p:extLst>
      <p:ext uri="{BB962C8B-B14F-4D97-AF65-F5344CB8AC3E}">
        <p14:creationId xmlns:p14="http://schemas.microsoft.com/office/powerpoint/2010/main" val="1704315521"/>
      </p:ext>
    </p:extLst>
  </p:cSld>
</p:sld>
</file>

<file path=ppt/slides/slide2.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12CFB40-EDCC-4CDB-AF50-89EF2C7E1110}"/>
              </a:ext>
            </a:extLst>
          </p:cNvPr>
          <p:cNvSpPr>
            <a:spLocks xmlns:a="http://schemas.openxmlformats.org/drawingml/2006/main" noGrp="1"/>
          </p:cNvSpPr>
          <p:nvPr/>
        </p:nvSpPr>
        <p:spPr>
          <a:xfrm xmlns:a="http://schemas.openxmlformats.org/drawingml/2006/main">
            <a:off x="666750" y="2857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1E65A5"/>
                </a:solidFill>
                <a:latin typeface="Arial"/>
                <a:ea typeface="Arial"/>
                <a:cs typeface="Arial"/>
              </a:defRPr>
            </a:pPr>
            <a:r>
              <a:rPr sz="1200" b="1">
                <a:solidFill>
                  <a:srgbClr val="1E65A5"/>
                </a:solidFill>
                <a:latin typeface="Arial"/>
                <a:ea typeface="Arial"/>
                <a:cs typeface="Arial"/>
              </a:rPr>
              <a:t>C1  /  BASELINE</a:t>
            </a:r>
          </a:p>
        </p:txBody>
      </p:sp>
      <p:sp>
        <p:nvSpPr>
          <p:cNvPr id="2" name="">
            <a:extLst xmlns:a="http://schemas.openxmlformats.org/drawingml/2006/main">
              <a:ext uri="{FF2B5EF4-FFF2-40B4-BE49-F238E27FC236}">
                <a16:creationId xmlns:a16="http://schemas.microsoft.com/office/drawing/2014/main" id="{532109FA-B019-4FC2-9994-BC3C4C5270C8}"/>
              </a:ext>
            </a:extLst>
          </p:cNvPr>
          <p:cNvSpPr>
            <a:spLocks xmlns:a="http://schemas.openxmlformats.org/drawingml/2006/main" noGrp="1"/>
          </p:cNvSpPr>
          <p:nvPr/>
        </p:nvSpPr>
        <p:spPr>
          <a:xfrm xmlns:a="http://schemas.openxmlformats.org/drawingml/2006/main">
            <a:off x="666750" y="68580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3A63"/>
                </a:solidFill>
                <a:latin typeface="Arial"/>
                <a:ea typeface="Arial"/>
                <a:cs typeface="Arial"/>
              </a:defRPr>
            </a:pPr>
            <a:r>
              <a:rPr sz="3150" b="1">
                <a:solidFill>
                  <a:srgbClr val="173A63"/>
                </a:solidFill>
                <a:latin typeface="Arial"/>
                <a:ea typeface="Arial"/>
                <a:cs typeface="Arial"/>
              </a:rPr>
              <a:t>Baseline: chọn 100 ảnh ngẫu nhiên</a:t>
            </a:r>
          </a:p>
        </p:txBody>
      </p:sp>
      <p:sp>
        <p:nvSpPr>
          <p:cNvPr id="3" name="">
            <a:extLst xmlns:a="http://schemas.openxmlformats.org/drawingml/2006/main">
              <a:ext uri="{FF2B5EF4-FFF2-40B4-BE49-F238E27FC236}">
                <a16:creationId xmlns:a16="http://schemas.microsoft.com/office/drawing/2014/main" id="{F2490DDA-B051-402A-8D24-5DACFA8BA19E}"/>
              </a:ext>
            </a:extLst>
          </p:cNvPr>
          <p:cNvSpPr>
            <a:spLocks xmlns:a="http://schemas.openxmlformats.org/drawingml/2006/main" noGrp="1"/>
          </p:cNvSpPr>
          <p:nvPr/>
        </p:nvSpPr>
        <p:spPr>
          <a:xfrm xmlns:a="http://schemas.openxmlformats.org/drawingml/2006/main">
            <a:off x="666750" y="1524000"/>
            <a:ext cx="1085850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B332B24-BD7A-427B-8E9A-03AFEB27DF3A}"/>
              </a:ext>
            </a:extLst>
          </p:cNvPr>
          <p:cNvSpPr>
            <a:spLocks xmlns:a="http://schemas.openxmlformats.org/drawingml/2006/main" noGrp="1"/>
          </p:cNvSpPr>
          <p:nvPr/>
        </p:nvSpPr>
        <p:spPr>
          <a:xfrm xmlns:a="http://schemas.openxmlformats.org/drawingml/2006/main">
            <a:off x="10572750" y="63531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16B84"/>
                </a:solidFill>
                <a:latin typeface="Arial"/>
                <a:ea typeface="Arial"/>
                <a:cs typeface="Arial"/>
              </a:defRPr>
            </a:pPr>
            <a:r>
              <a:rPr sz="1200" b="0">
                <a:solidFill>
                  <a:srgbClr val="516B84"/>
                </a:solidFill>
                <a:latin typeface="Arial"/>
                <a:ea typeface="Arial"/>
                <a:cs typeface="Arial"/>
              </a:rPr>
              <a:t>02 / 05</a:t>
            </a:r>
          </a:p>
        </p:txBody>
      </p:sp>
      <p:sp>
        <p:nvSpPr>
          <p:cNvPr id="5" name="">
            <a:extLst xmlns:a="http://schemas.openxmlformats.org/drawingml/2006/main">
              <a:ext uri="{FF2B5EF4-FFF2-40B4-BE49-F238E27FC236}">
                <a16:creationId xmlns:a16="http://schemas.microsoft.com/office/drawing/2014/main" id="{4D3BFE69-A381-4D1F-BCDF-A9A7AAC5DC35}"/>
              </a:ext>
            </a:extLst>
          </p:cNvPr>
          <p:cNvSpPr>
            <a:spLocks xmlns:a="http://schemas.openxmlformats.org/drawingml/2006/main" noGrp="1"/>
          </p:cNvSpPr>
          <p:nvPr/>
        </p:nvSpPr>
        <p:spPr>
          <a:xfrm xmlns:a="http://schemas.openxmlformats.org/drawingml/2006/main">
            <a:off x="666750" y="1838325"/>
            <a:ext cx="1028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83153"/>
                </a:solidFill>
                <a:latin typeface="Arial"/>
                <a:ea typeface="Arial"/>
                <a:cs typeface="Arial"/>
              </a:defRPr>
            </a:pPr>
            <a:r>
              <a:rPr sz="2100" b="0">
                <a:solidFill>
                  <a:srgbClr val="183153"/>
                </a:solidFill>
                <a:latin typeface="Arial"/>
                <a:ea typeface="Arial"/>
                <a:cs typeface="Arial"/>
              </a:rPr>
              <a:t>Cùng 5% ngân sách, chọn ngẫu nhiên là cách dễ nhất để kiểm tra lại dữ liệu.</a:t>
            </a:r>
          </a:p>
        </p:txBody>
      </p:sp>
      <p:sp>
        <p:nvSpPr>
          <p:cNvPr id="6" name="">
            <a:extLst xmlns:a="http://schemas.openxmlformats.org/drawingml/2006/main">
              <a:ext uri="{FF2B5EF4-FFF2-40B4-BE49-F238E27FC236}">
                <a16:creationId xmlns:a16="http://schemas.microsoft.com/office/drawing/2014/main" id="{E0480703-B5BF-4E7E-A527-BFC61AEDC05C}"/>
              </a:ext>
            </a:extLst>
          </p:cNvPr>
          <p:cNvSpPr>
            <a:spLocks xmlns:a="http://schemas.openxmlformats.org/drawingml/2006/main" noGrp="1"/>
          </p:cNvSpPr>
          <p:nvPr/>
        </p:nvSpPr>
        <p:spPr>
          <a:xfrm xmlns:a="http://schemas.openxmlformats.org/drawingml/2006/main">
            <a:off x="666750" y="2724150"/>
            <a:ext cx="4191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7800" b="1">
                <a:solidFill>
                  <a:srgbClr val="173A63"/>
                </a:solidFill>
                <a:latin typeface="Arial"/>
                <a:ea typeface="Arial"/>
                <a:cs typeface="Arial"/>
              </a:defRPr>
            </a:pPr>
            <a:r>
              <a:rPr sz="7800" b="1">
                <a:solidFill>
                  <a:srgbClr val="173A63"/>
                </a:solidFill>
                <a:latin typeface="Arial"/>
                <a:ea typeface="Arial"/>
                <a:cs typeface="Arial"/>
              </a:rPr>
              <a:t>9,64</a:t>
            </a:r>
          </a:p>
        </p:txBody>
      </p:sp>
      <p:sp>
        <p:nvSpPr>
          <p:cNvPr id="7" name="">
            <a:extLst xmlns:a="http://schemas.openxmlformats.org/drawingml/2006/main">
              <a:ext uri="{FF2B5EF4-FFF2-40B4-BE49-F238E27FC236}">
                <a16:creationId xmlns:a16="http://schemas.microsoft.com/office/drawing/2014/main" id="{E9745852-F4FD-4D19-AD52-787E3B054BF5}"/>
              </a:ext>
            </a:extLst>
          </p:cNvPr>
          <p:cNvSpPr>
            <a:spLocks xmlns:a="http://schemas.openxmlformats.org/drawingml/2006/main" noGrp="1"/>
          </p:cNvSpPr>
          <p:nvPr/>
        </p:nvSpPr>
        <p:spPr>
          <a:xfrm xmlns:a="http://schemas.openxmlformats.org/drawingml/2006/main">
            <a:off x="685800" y="401002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0">
                <a:solidFill>
                  <a:srgbClr val="183153"/>
                </a:solidFill>
                <a:latin typeface="Arial"/>
                <a:ea typeface="Arial"/>
                <a:cs typeface="Arial"/>
              </a:defRPr>
            </a:pPr>
            <a:r>
              <a:rPr sz="2325" b="0">
                <a:solidFill>
                  <a:srgbClr val="183153"/>
                </a:solidFill>
                <a:latin typeface="Arial"/>
                <a:ea typeface="Arial"/>
                <a:cs typeface="Arial"/>
              </a:rPr>
              <a:t>lỗi thật / 100 ảnh</a:t>
            </a:r>
          </a:p>
        </p:txBody>
      </p:sp>
      <p:sp>
        <p:nvSpPr>
          <p:cNvPr id="8" name="">
            <a:extLst xmlns:a="http://schemas.openxmlformats.org/drawingml/2006/main">
              <a:ext uri="{FF2B5EF4-FFF2-40B4-BE49-F238E27FC236}">
                <a16:creationId xmlns:a16="http://schemas.microsoft.com/office/drawing/2014/main" id="{8E7BA7D9-61FD-4EC0-83F3-C26AAEA953B4}"/>
              </a:ext>
            </a:extLst>
          </p:cNvPr>
          <p:cNvSpPr>
            <a:spLocks xmlns:a="http://schemas.openxmlformats.org/drawingml/2006/main" noGrp="1"/>
          </p:cNvSpPr>
          <p:nvPr/>
        </p:nvSpPr>
        <p:spPr>
          <a:xfrm xmlns:a="http://schemas.openxmlformats.org/drawingml/2006/main">
            <a:off x="6219825" y="2686050"/>
            <a:ext cx="19050" cy="171450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9218B20-DB37-42F5-AEC1-49AD5850F013}"/>
              </a:ext>
            </a:extLst>
          </p:cNvPr>
          <p:cNvSpPr>
            <a:spLocks xmlns:a="http://schemas.openxmlformats.org/drawingml/2006/main" noGrp="1"/>
          </p:cNvSpPr>
          <p:nvPr/>
        </p:nvSpPr>
        <p:spPr>
          <a:xfrm xmlns:a="http://schemas.openxmlformats.org/drawingml/2006/main">
            <a:off x="6705600" y="2857500"/>
            <a:ext cx="438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700" b="1">
                <a:solidFill>
                  <a:srgbClr val="1E65A5"/>
                </a:solidFill>
                <a:latin typeface="Arial"/>
                <a:ea typeface="Arial"/>
                <a:cs typeface="Arial"/>
              </a:defRPr>
            </a:pPr>
            <a:r>
              <a:rPr sz="5700" b="1">
                <a:solidFill>
                  <a:srgbClr val="1E65A5"/>
                </a:solidFill>
                <a:latin typeface="Arial"/>
                <a:ea typeface="Arial"/>
                <a:cs typeface="Arial"/>
              </a:rPr>
              <a:t>4,82%</a:t>
            </a:r>
          </a:p>
        </p:txBody>
      </p:sp>
      <p:sp>
        <p:nvSpPr>
          <p:cNvPr id="10" name="">
            <a:extLst xmlns:a="http://schemas.openxmlformats.org/drawingml/2006/main">
              <a:ext uri="{FF2B5EF4-FFF2-40B4-BE49-F238E27FC236}">
                <a16:creationId xmlns:a16="http://schemas.microsoft.com/office/drawing/2014/main" id="{D79BBA93-56EC-4DF4-BEF6-B3B99A8760FD}"/>
              </a:ext>
            </a:extLst>
          </p:cNvPr>
          <p:cNvSpPr>
            <a:spLocks xmlns:a="http://schemas.openxmlformats.org/drawingml/2006/main" noGrp="1"/>
          </p:cNvSpPr>
          <p:nvPr/>
        </p:nvSpPr>
        <p:spPr>
          <a:xfrm xmlns:a="http://schemas.openxmlformats.org/drawingml/2006/main">
            <a:off x="6734175" y="4019550"/>
            <a:ext cx="4286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83153"/>
                </a:solidFill>
                <a:latin typeface="Arial"/>
                <a:ea typeface="Arial"/>
                <a:cs typeface="Arial"/>
              </a:defRPr>
            </a:pPr>
            <a:r>
              <a:rPr sz="2175" b="0">
                <a:solidFill>
                  <a:srgbClr val="183153"/>
                </a:solidFill>
                <a:latin typeface="Arial"/>
                <a:ea typeface="Arial"/>
                <a:cs typeface="Arial"/>
              </a:rPr>
              <a:t>Error Recall@5%</a:t>
            </a:r>
          </a:p>
        </p:txBody>
      </p:sp>
      <p:sp>
        <p:nvSpPr>
          <p:cNvPr id="11" name="">
            <a:extLst xmlns:a="http://schemas.openxmlformats.org/drawingml/2006/main">
              <a:ext uri="{FF2B5EF4-FFF2-40B4-BE49-F238E27FC236}">
                <a16:creationId xmlns:a16="http://schemas.microsoft.com/office/drawing/2014/main" id="{0024BEE7-5860-48CF-919A-F00C3DADC80F}"/>
              </a:ext>
            </a:extLst>
          </p:cNvPr>
          <p:cNvSpPr>
            <a:spLocks xmlns:a="http://schemas.openxmlformats.org/drawingml/2006/main" noGrp="1"/>
          </p:cNvSpPr>
          <p:nvPr/>
        </p:nvSpPr>
        <p:spPr>
          <a:xfrm xmlns:a="http://schemas.openxmlformats.org/drawingml/2006/main">
            <a:off x="666750" y="5048250"/>
            <a:ext cx="1076325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B5F9EB0-3BA3-442E-901D-7F709B5DE4D5}"/>
              </a:ext>
            </a:extLst>
          </p:cNvPr>
          <p:cNvSpPr>
            <a:spLocks xmlns:a="http://schemas.openxmlformats.org/drawingml/2006/main" noGrp="1"/>
          </p:cNvSpPr>
          <p:nvPr/>
        </p:nvSpPr>
        <p:spPr>
          <a:xfrm xmlns:a="http://schemas.openxmlformats.org/drawingml/2006/main">
            <a:off x="666750" y="52768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16B84"/>
                </a:solidFill>
                <a:latin typeface="Arial"/>
                <a:ea typeface="Arial"/>
                <a:cs typeface="Arial"/>
              </a:defRPr>
            </a:pPr>
            <a:r>
              <a:rPr sz="1725" b="0">
                <a:solidFill>
                  <a:srgbClr val="516B84"/>
                </a:solidFill>
                <a:latin typeface="Arial"/>
                <a:ea typeface="Arial"/>
                <a:cs typeface="Arial"/>
              </a:rPr>
              <a:t>100 random seed (1000–1099)</a:t>
            </a:r>
          </a:p>
        </p:txBody>
      </p:sp>
      <p:sp>
        <p:nvSpPr>
          <p:cNvPr id="13" name="">
            <a:extLst xmlns:a="http://schemas.openxmlformats.org/drawingml/2006/main">
              <a:ext uri="{FF2B5EF4-FFF2-40B4-BE49-F238E27FC236}">
                <a16:creationId xmlns:a16="http://schemas.microsoft.com/office/drawing/2014/main" id="{37981713-FCE4-4F4F-9A4A-5C78CDDB3F27}"/>
              </a:ext>
            </a:extLst>
          </p:cNvPr>
          <p:cNvSpPr>
            <a:spLocks xmlns:a="http://schemas.openxmlformats.org/drawingml/2006/main" noGrp="1"/>
          </p:cNvSpPr>
          <p:nvPr/>
        </p:nvSpPr>
        <p:spPr>
          <a:xfrm xmlns:a="http://schemas.openxmlformats.org/drawingml/2006/main">
            <a:off x="5400675" y="527685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16B84"/>
                </a:solidFill>
                <a:latin typeface="Arial"/>
                <a:ea typeface="Arial"/>
                <a:cs typeface="Arial"/>
              </a:defRPr>
            </a:pPr>
            <a:r>
              <a:rPr sz="1725" b="0">
                <a:solidFill>
                  <a:srgbClr val="516B84"/>
                </a:solidFill>
                <a:latin typeface="Arial"/>
                <a:ea typeface="Arial"/>
                <a:cs typeface="Arial"/>
              </a:rPr>
              <a:t>Dao động: 4–17 lỗi</a:t>
            </a:r>
          </a:p>
        </p:txBody>
      </p:sp>
      <p:sp>
        <p:nvSpPr>
          <p:cNvPr id="14" name="">
            <a:extLst xmlns:a="http://schemas.openxmlformats.org/drawingml/2006/main">
              <a:ext uri="{FF2B5EF4-FFF2-40B4-BE49-F238E27FC236}">
                <a16:creationId xmlns:a16="http://schemas.microsoft.com/office/drawing/2014/main" id="{6E021C76-EFB6-40D4-84CF-EA6308254411}"/>
              </a:ext>
            </a:extLst>
          </p:cNvPr>
          <p:cNvSpPr>
            <a:spLocks xmlns:a="http://schemas.openxmlformats.org/drawingml/2006/main" noGrp="1"/>
          </p:cNvSpPr>
          <p:nvPr/>
        </p:nvSpPr>
        <p:spPr>
          <a:xfrm xmlns:a="http://schemas.openxmlformats.org/drawingml/2006/main">
            <a:off x="666750" y="58293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16B84"/>
                </a:solidFill>
                <a:latin typeface="Arial"/>
                <a:ea typeface="Arial"/>
                <a:cs typeface="Arial"/>
              </a:defRPr>
            </a:pPr>
            <a:r>
              <a:rPr sz="1500" b="0">
                <a:solidFill>
                  <a:srgbClr val="516B84"/>
                </a:solidFill>
                <a:latin typeface="Arial"/>
                <a:ea typeface="Arial"/>
                <a:cs typeface="Arial"/>
              </a:rPr>
              <a:t>Cùng 2.000 ảnh evaluation và 100 lượt review; không chọn một seed đẹp.</a:t>
            </a:r>
          </a:p>
        </p:txBody>
      </p:sp>
    </p:spTree>
    <p:extLst>
      <p:ext uri="{BB962C8B-B14F-4D97-AF65-F5344CB8AC3E}">
        <p14:creationId xmlns:p14="http://schemas.microsoft.com/office/powerpoint/2010/main" val="1702862632"/>
      </p:ext>
    </p:extLst>
  </p:cSld>
</p:sld>
</file>

<file path=ppt/slides/slide3.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14A0D0D-4779-41C4-A370-C7FACC2E42CA}"/>
              </a:ext>
            </a:extLst>
          </p:cNvPr>
          <p:cNvSpPr>
            <a:spLocks xmlns:a="http://schemas.openxmlformats.org/drawingml/2006/main" noGrp="1"/>
          </p:cNvSpPr>
          <p:nvPr/>
        </p:nvSpPr>
        <p:spPr>
          <a:xfrm xmlns:a="http://schemas.openxmlformats.org/drawingml/2006/main">
            <a:off x="666750" y="2857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1E65A5"/>
                </a:solidFill>
                <a:latin typeface="Arial"/>
                <a:ea typeface="Arial"/>
                <a:cs typeface="Arial"/>
              </a:defRPr>
            </a:pPr>
            <a:r>
              <a:rPr sz="1200" b="1">
                <a:solidFill>
                  <a:srgbClr val="1E65A5"/>
                </a:solidFill>
                <a:latin typeface="Arial"/>
                <a:ea typeface="Arial"/>
                <a:cs typeface="Arial"/>
              </a:rPr>
              <a:t>C1  /  SOLUTION</a:t>
            </a:r>
          </a:p>
        </p:txBody>
      </p:sp>
      <p:sp>
        <p:nvSpPr>
          <p:cNvPr id="2" name="">
            <a:extLst xmlns:a="http://schemas.openxmlformats.org/drawingml/2006/main">
              <a:ext uri="{FF2B5EF4-FFF2-40B4-BE49-F238E27FC236}">
                <a16:creationId xmlns:a16="http://schemas.microsoft.com/office/drawing/2014/main" id="{DDB3C0FD-6744-48DD-B810-4DAB06465DCB}"/>
              </a:ext>
            </a:extLst>
          </p:cNvPr>
          <p:cNvSpPr>
            <a:spLocks xmlns:a="http://schemas.openxmlformats.org/drawingml/2006/main" noGrp="1"/>
          </p:cNvSpPr>
          <p:nvPr/>
        </p:nvSpPr>
        <p:spPr>
          <a:xfrm xmlns:a="http://schemas.openxmlformats.org/drawingml/2006/main">
            <a:off x="666750" y="68580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3A63"/>
                </a:solidFill>
                <a:latin typeface="Arial"/>
                <a:ea typeface="Arial"/>
                <a:cs typeface="Arial"/>
              </a:defRPr>
            </a:pPr>
            <a:r>
              <a:rPr sz="3150" b="1">
                <a:solidFill>
                  <a:srgbClr val="173A63"/>
                </a:solidFill>
                <a:latin typeface="Arial"/>
                <a:ea typeface="Arial"/>
                <a:cs typeface="Arial"/>
              </a:rPr>
              <a:t>Solution: ảnh nào có nhãn đáng nghi?</a:t>
            </a:r>
          </a:p>
        </p:txBody>
      </p:sp>
      <p:sp>
        <p:nvSpPr>
          <p:cNvPr id="3" name="">
            <a:extLst xmlns:a="http://schemas.openxmlformats.org/drawingml/2006/main">
              <a:ext uri="{FF2B5EF4-FFF2-40B4-BE49-F238E27FC236}">
                <a16:creationId xmlns:a16="http://schemas.microsoft.com/office/drawing/2014/main" id="{7D32B391-FD57-4A49-A131-B5DD398BDCC8}"/>
              </a:ext>
            </a:extLst>
          </p:cNvPr>
          <p:cNvSpPr>
            <a:spLocks xmlns:a="http://schemas.openxmlformats.org/drawingml/2006/main" noGrp="1"/>
          </p:cNvSpPr>
          <p:nvPr/>
        </p:nvSpPr>
        <p:spPr>
          <a:xfrm xmlns:a="http://schemas.openxmlformats.org/drawingml/2006/main">
            <a:off x="666750" y="1524000"/>
            <a:ext cx="1085850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4E1DC58-CBDB-4A73-AB76-4F7299768BE4}"/>
              </a:ext>
            </a:extLst>
          </p:cNvPr>
          <p:cNvSpPr>
            <a:spLocks xmlns:a="http://schemas.openxmlformats.org/drawingml/2006/main" noGrp="1"/>
          </p:cNvSpPr>
          <p:nvPr/>
        </p:nvSpPr>
        <p:spPr>
          <a:xfrm xmlns:a="http://schemas.openxmlformats.org/drawingml/2006/main">
            <a:off x="10572750" y="63531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16B84"/>
                </a:solidFill>
                <a:latin typeface="Arial"/>
                <a:ea typeface="Arial"/>
                <a:cs typeface="Arial"/>
              </a:defRPr>
            </a:pPr>
            <a:r>
              <a:rPr sz="1200" b="0">
                <a:solidFill>
                  <a:srgbClr val="516B84"/>
                </a:solidFill>
                <a:latin typeface="Arial"/>
                <a:ea typeface="Arial"/>
                <a:cs typeface="Arial"/>
              </a:rPr>
              <a:t>03 / 05</a:t>
            </a:r>
          </a:p>
        </p:txBody>
      </p:sp>
      <p:sp>
        <p:nvSpPr>
          <p:cNvPr id="5" name="">
            <a:extLst xmlns:a="http://schemas.openxmlformats.org/drawingml/2006/main">
              <a:ext uri="{FF2B5EF4-FFF2-40B4-BE49-F238E27FC236}">
                <a16:creationId xmlns:a16="http://schemas.microsoft.com/office/drawing/2014/main" id="{5456879E-2399-49AB-9D2E-5E407CC7903A}"/>
              </a:ext>
            </a:extLst>
          </p:cNvPr>
          <p:cNvSpPr>
            <a:spLocks xmlns:a="http://schemas.openxmlformats.org/drawingml/2006/main" noGrp="1"/>
          </p:cNvSpPr>
          <p:nvPr/>
        </p:nvSpPr>
        <p:spPr>
          <a:xfrm xmlns:a="http://schemas.openxmlformats.org/drawingml/2006/main">
            <a:off x="666750" y="188595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73A63"/>
                </a:solidFill>
                <a:latin typeface="Arial"/>
                <a:ea typeface="Arial"/>
                <a:cs typeface="Arial"/>
              </a:defRPr>
            </a:pPr>
            <a:r>
              <a:rPr sz="1800" b="1">
                <a:solidFill>
                  <a:srgbClr val="173A63"/>
                </a:solidFill>
                <a:latin typeface="Arial"/>
                <a:ea typeface="Arial"/>
                <a:cs typeface="Arial"/>
              </a:rPr>
              <a:t>8.000 ảnh development</a:t>
            </a:r>
          </a:p>
        </p:txBody>
      </p:sp>
      <p:sp>
        <p:nvSpPr>
          <p:cNvPr id="6" name="">
            <a:extLst xmlns:a="http://schemas.openxmlformats.org/drawingml/2006/main">
              <a:ext uri="{FF2B5EF4-FFF2-40B4-BE49-F238E27FC236}">
                <a16:creationId xmlns:a16="http://schemas.microsoft.com/office/drawing/2014/main" id="{627F953E-E7CD-46C1-891D-0D1A933879A2}"/>
              </a:ext>
            </a:extLst>
          </p:cNvPr>
          <p:cNvSpPr>
            <a:spLocks xmlns:a="http://schemas.openxmlformats.org/drawingml/2006/main" noGrp="1"/>
          </p:cNvSpPr>
          <p:nvPr/>
        </p:nvSpPr>
        <p:spPr>
          <a:xfrm xmlns:a="http://schemas.openxmlformats.org/drawingml/2006/main">
            <a:off x="4029075" y="1866900"/>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1E65A5"/>
                </a:solidFill>
                <a:latin typeface="Arial"/>
                <a:ea typeface="Arial"/>
                <a:cs typeface="Arial"/>
              </a:defRPr>
            </a:pPr>
            <a:r>
              <a:rPr sz="2325" b="1">
                <a:solidFill>
                  <a:srgbClr val="1E65A5"/>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6D3547C2-D151-4E9C-9742-4259BEA120CF}"/>
              </a:ext>
            </a:extLst>
          </p:cNvPr>
          <p:cNvSpPr>
            <a:spLocks xmlns:a="http://schemas.openxmlformats.org/drawingml/2006/main" noGrp="1"/>
          </p:cNvSpPr>
          <p:nvPr/>
        </p:nvSpPr>
        <p:spPr>
          <a:xfrm xmlns:a="http://schemas.openxmlformats.org/drawingml/2006/main">
            <a:off x="4610100" y="1885950"/>
            <a:ext cx="3181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73A63"/>
                </a:solidFill>
                <a:latin typeface="Arial"/>
                <a:ea typeface="Arial"/>
                <a:cs typeface="Arial"/>
              </a:defRPr>
            </a:pPr>
            <a:r>
              <a:rPr sz="1800" b="1">
                <a:solidFill>
                  <a:srgbClr val="173A63"/>
                </a:solidFill>
                <a:latin typeface="Arial"/>
                <a:ea typeface="Arial"/>
                <a:cs typeface="Arial"/>
              </a:rPr>
              <a:t>15 ảnh giống nhất</a:t>
            </a:r>
          </a:p>
        </p:txBody>
      </p:sp>
      <p:sp>
        <p:nvSpPr>
          <p:cNvPr id="8" name="">
            <a:extLst xmlns:a="http://schemas.openxmlformats.org/drawingml/2006/main">
              <a:ext uri="{FF2B5EF4-FFF2-40B4-BE49-F238E27FC236}">
                <a16:creationId xmlns:a16="http://schemas.microsoft.com/office/drawing/2014/main" id="{C6727961-5758-40CC-BB63-54A66456B2D8}"/>
              </a:ext>
            </a:extLst>
          </p:cNvPr>
          <p:cNvSpPr>
            <a:spLocks xmlns:a="http://schemas.openxmlformats.org/drawingml/2006/main" noGrp="1"/>
          </p:cNvSpPr>
          <p:nvPr/>
        </p:nvSpPr>
        <p:spPr>
          <a:xfrm xmlns:a="http://schemas.openxmlformats.org/drawingml/2006/main">
            <a:off x="7905750" y="1866900"/>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1E65A5"/>
                </a:solidFill>
                <a:latin typeface="Arial"/>
                <a:ea typeface="Arial"/>
                <a:cs typeface="Arial"/>
              </a:defRPr>
            </a:pPr>
            <a:r>
              <a:rPr sz="2325" b="1">
                <a:solidFill>
                  <a:srgbClr val="1E65A5"/>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765D6028-9AA2-4E76-909A-A0DACC678BF7}"/>
              </a:ext>
            </a:extLst>
          </p:cNvPr>
          <p:cNvSpPr>
            <a:spLocks xmlns:a="http://schemas.openxmlformats.org/drawingml/2006/main" noGrp="1"/>
          </p:cNvSpPr>
          <p:nvPr/>
        </p:nvSpPr>
        <p:spPr>
          <a:xfrm xmlns:a="http://schemas.openxmlformats.org/drawingml/2006/main">
            <a:off x="8477250" y="18859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73A63"/>
                </a:solidFill>
                <a:latin typeface="Arial"/>
                <a:ea typeface="Arial"/>
                <a:cs typeface="Arial"/>
              </a:defRPr>
            </a:pPr>
            <a:r>
              <a:rPr sz="1800" b="1">
                <a:solidFill>
                  <a:srgbClr val="173A63"/>
                </a:solidFill>
                <a:latin typeface="Arial"/>
                <a:ea typeface="Arial"/>
                <a:cs typeface="Arial"/>
              </a:rPr>
              <a:t>Xếp hạng top 100</a:t>
            </a:r>
          </a:p>
        </p:txBody>
      </p:sp>
      <p:sp>
        <p:nvSpPr>
          <p:cNvPr id="10" name="">
            <a:extLst xmlns:a="http://schemas.openxmlformats.org/drawingml/2006/main">
              <a:ext uri="{FF2B5EF4-FFF2-40B4-BE49-F238E27FC236}">
                <a16:creationId xmlns:a16="http://schemas.microsoft.com/office/drawing/2014/main" id="{F6B35715-3E70-41A1-A74D-9225AB984ECB}"/>
              </a:ext>
            </a:extLst>
          </p:cNvPr>
          <p:cNvSpPr>
            <a:spLocks xmlns:a="http://schemas.openxmlformats.org/drawingml/2006/main" noGrp="1"/>
          </p:cNvSpPr>
          <p:nvPr/>
        </p:nvSpPr>
        <p:spPr>
          <a:xfrm xmlns:a="http://schemas.openxmlformats.org/drawingml/2006/main">
            <a:off x="666750" y="2400300"/>
            <a:ext cx="1076325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E2B8FF3-6BDE-48FE-AA3B-ACAD8060C554}"/>
              </a:ext>
            </a:extLst>
          </p:cNvPr>
          <p:cNvSpPr>
            <a:spLocks xmlns:a="http://schemas.openxmlformats.org/drawingml/2006/main" noGrp="1"/>
          </p:cNvSpPr>
          <p:nvPr/>
        </p:nvSpPr>
        <p:spPr>
          <a:xfrm xmlns:a="http://schemas.openxmlformats.org/drawingml/2006/main">
            <a:off x="666750" y="2609850"/>
            <a:ext cx="10382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183153"/>
                </a:solidFill>
                <a:latin typeface="Arial"/>
                <a:ea typeface="Arial"/>
                <a:cs typeface="Arial"/>
              </a:defRPr>
            </a:pPr>
            <a:r>
              <a:rPr sz="2025" b="0">
                <a:solidFill>
                  <a:srgbClr val="183153"/>
                </a:solidFill>
                <a:latin typeface="Arial"/>
                <a:ea typeface="Arial"/>
                <a:cs typeface="Arial"/>
              </a:rPr>
              <a:t>Mỗi ảnh được thu nhỏ thành 14×14 pixel. Các ảnh gần giống bỏ phiếu cho nhãn có khả năng đúng.</a:t>
            </a:r>
          </a:p>
        </p:txBody>
      </p:sp>
      <p:sp>
        <p:nvSpPr>
          <p:cNvPr id="12" name="">
            <a:extLst xmlns:a="http://schemas.openxmlformats.org/drawingml/2006/main">
              <a:ext uri="{FF2B5EF4-FFF2-40B4-BE49-F238E27FC236}">
                <a16:creationId xmlns:a16="http://schemas.microsoft.com/office/drawing/2014/main" id="{7963BDBA-4A3C-4080-A798-09792F115181}"/>
              </a:ext>
            </a:extLst>
          </p:cNvPr>
          <p:cNvSpPr>
            <a:spLocks xmlns:a="http://schemas.openxmlformats.org/drawingml/2006/main" noGrp="1"/>
          </p:cNvSpPr>
          <p:nvPr/>
        </p:nvSpPr>
        <p:spPr>
          <a:xfrm xmlns:a="http://schemas.openxmlformats.org/drawingml/2006/main">
            <a:off x="666750" y="34575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1E65A5"/>
                </a:solidFill>
                <a:latin typeface="Arial"/>
                <a:ea typeface="Arial"/>
                <a:cs typeface="Arial"/>
              </a:defRPr>
            </a:pPr>
            <a:r>
              <a:rPr sz="2250" b="1">
                <a:solidFill>
                  <a:srgbClr val="1E65A5"/>
                </a:solidFill>
                <a:latin typeface="Arial"/>
                <a:ea typeface="Arial"/>
                <a:cs typeface="Arial"/>
              </a:rPr>
              <a:t>Điểm đáng nghi = 1 − P(nhãn hiện tại | 15 ảnh gần nhất)</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4950e0818ba4e5d"/>
          <a:stretch xmlns:a="http://schemas.openxmlformats.org/drawingml/2006/main"/>
        </p:blipFill>
        <p:spPr>
          <a:xfrm xmlns:a="http://schemas.openxmlformats.org/drawingml/2006/main">
            <a:off x="685800" y="4381500"/>
            <a:ext cx="1285875" cy="12858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7BD8088B-4013-44C4-B289-D89CB60A9225}"/>
              </a:ext>
            </a:extLst>
          </p:cNvPr>
          <p:cNvSpPr>
            <a:spLocks xmlns:a="http://schemas.openxmlformats.org/drawingml/2006/main" noGrp="1"/>
          </p:cNvSpPr>
          <p:nvPr/>
        </p:nvSpPr>
        <p:spPr>
          <a:xfrm xmlns:a="http://schemas.openxmlformats.org/drawingml/2006/main">
            <a:off x="2209800" y="44672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516B84"/>
                </a:solidFill>
                <a:latin typeface="Arial"/>
                <a:ea typeface="Arial"/>
                <a:cs typeface="Arial"/>
              </a:defRPr>
            </a:pPr>
            <a:r>
              <a:rPr sz="1500" b="1">
                <a:solidFill>
                  <a:srgbClr val="516B84"/>
                </a:solidFill>
                <a:latin typeface="Arial"/>
                <a:ea typeface="Arial"/>
                <a:cs typeface="Arial"/>
              </a:rPr>
              <a:t>Ảnh #33007</a:t>
            </a:r>
          </a:p>
        </p:txBody>
      </p:sp>
      <p:sp>
        <p:nvSpPr>
          <p:cNvPr id="15" name="">
            <a:extLst xmlns:a="http://schemas.openxmlformats.org/drawingml/2006/main">
              <a:ext uri="{FF2B5EF4-FFF2-40B4-BE49-F238E27FC236}">
                <a16:creationId xmlns:a16="http://schemas.microsoft.com/office/drawing/2014/main" id="{4C4498C0-B648-49EE-AE96-D0DACD7FB2E4}"/>
              </a:ext>
            </a:extLst>
          </p:cNvPr>
          <p:cNvSpPr>
            <a:spLocks xmlns:a="http://schemas.openxmlformats.org/drawingml/2006/main" noGrp="1"/>
          </p:cNvSpPr>
          <p:nvPr/>
        </p:nvSpPr>
        <p:spPr>
          <a:xfrm xmlns:a="http://schemas.openxmlformats.org/drawingml/2006/main">
            <a:off x="2209800" y="48482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B83336"/>
                </a:solidFill>
                <a:latin typeface="Arial"/>
                <a:ea typeface="Arial"/>
                <a:cs typeface="Arial"/>
              </a:defRPr>
            </a:pPr>
            <a:r>
              <a:rPr sz="1800" b="1">
                <a:solidFill>
                  <a:srgbClr val="B83336"/>
                </a:solidFill>
                <a:latin typeface="Arial"/>
                <a:ea typeface="Arial"/>
                <a:cs typeface="Arial"/>
              </a:rPr>
              <a:t>Nhãn hiện tại: T-shirt/top</a:t>
            </a:r>
          </a:p>
        </p:txBody>
      </p:sp>
      <p:sp>
        <p:nvSpPr>
          <p:cNvPr id="16" name="">
            <a:extLst xmlns:a="http://schemas.openxmlformats.org/drawingml/2006/main">
              <a:ext uri="{FF2B5EF4-FFF2-40B4-BE49-F238E27FC236}">
                <a16:creationId xmlns:a16="http://schemas.microsoft.com/office/drawing/2014/main" id="{5EF9A72E-905A-408A-B6AB-2096CD893E21}"/>
              </a:ext>
            </a:extLst>
          </p:cNvPr>
          <p:cNvSpPr>
            <a:spLocks xmlns:a="http://schemas.openxmlformats.org/drawingml/2006/main" noGrp="1"/>
          </p:cNvSpPr>
          <p:nvPr/>
        </p:nvSpPr>
        <p:spPr>
          <a:xfrm xmlns:a="http://schemas.openxmlformats.org/drawingml/2006/main">
            <a:off x="2209800" y="5276850"/>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2F7955"/>
                </a:solidFill>
                <a:latin typeface="Arial"/>
                <a:ea typeface="Arial"/>
                <a:cs typeface="Arial"/>
              </a:defRPr>
            </a:pPr>
            <a:r>
              <a:rPr sz="1800" b="1">
                <a:solidFill>
                  <a:srgbClr val="2F7955"/>
                </a:solidFill>
                <a:latin typeface="Arial"/>
                <a:ea typeface="Arial"/>
                <a:cs typeface="Arial"/>
              </a:rPr>
              <a:t>Nhãn tham chiếu: Shirt</a:t>
            </a:r>
          </a:p>
        </p:txBody>
      </p:sp>
      <p:sp>
        <p:nvSpPr>
          <p:cNvPr id="17" name="">
            <a:extLst xmlns:a="http://schemas.openxmlformats.org/drawingml/2006/main">
              <a:ext uri="{FF2B5EF4-FFF2-40B4-BE49-F238E27FC236}">
                <a16:creationId xmlns:a16="http://schemas.microsoft.com/office/drawing/2014/main" id="{4580E730-1F56-4EC7-A6E1-A7033BE310A6}"/>
              </a:ext>
            </a:extLst>
          </p:cNvPr>
          <p:cNvSpPr>
            <a:spLocks xmlns:a="http://schemas.openxmlformats.org/drawingml/2006/main" noGrp="1"/>
          </p:cNvSpPr>
          <p:nvPr/>
        </p:nvSpPr>
        <p:spPr>
          <a:xfrm xmlns:a="http://schemas.openxmlformats.org/drawingml/2006/main">
            <a:off x="685800" y="5924550"/>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516B84"/>
                </a:solidFill>
                <a:latin typeface="Arial"/>
                <a:ea typeface="Arial"/>
                <a:cs typeface="Arial"/>
              </a:defRPr>
            </a:pPr>
            <a:r>
              <a:rPr sz="1425" b="0">
                <a:solidFill>
                  <a:srgbClr val="516B84"/>
                </a:solidFill>
                <a:latin typeface="Arial"/>
                <a:ea typeface="Arial"/>
                <a:cs typeface="Arial"/>
              </a:rPr>
              <a:t>Đáp án evaluation chỉ được mở sau khi top 100 đã được xếp xong.</a:t>
            </a:r>
          </a:p>
        </p:txBody>
      </p:sp>
    </p:spTree>
    <p:extLst>
      <p:ext uri="{BB962C8B-B14F-4D97-AF65-F5344CB8AC3E}">
        <p14:creationId xmlns:p14="http://schemas.microsoft.com/office/powerpoint/2010/main" val="38675717"/>
      </p:ext>
    </p:extLst>
  </p:cSld>
</p:sld>
</file>

<file path=ppt/slides/slide4.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18B4453-199A-4370-A759-D4153D1725D8}"/>
              </a:ext>
            </a:extLst>
          </p:cNvPr>
          <p:cNvSpPr>
            <a:spLocks xmlns:a="http://schemas.openxmlformats.org/drawingml/2006/main" noGrp="1"/>
          </p:cNvSpPr>
          <p:nvPr/>
        </p:nvSpPr>
        <p:spPr>
          <a:xfrm xmlns:a="http://schemas.openxmlformats.org/drawingml/2006/main">
            <a:off x="666750" y="2857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1E65A5"/>
                </a:solidFill>
                <a:latin typeface="Arial"/>
                <a:ea typeface="Arial"/>
                <a:cs typeface="Arial"/>
              </a:defRPr>
            </a:pPr>
            <a:r>
              <a:rPr sz="1200" b="1">
                <a:solidFill>
                  <a:srgbClr val="1E65A5"/>
                </a:solidFill>
                <a:latin typeface="Arial"/>
                <a:ea typeface="Arial"/>
                <a:cs typeface="Arial"/>
              </a:rPr>
              <a:t>C1  /  EVIDENCE</a:t>
            </a:r>
          </a:p>
        </p:txBody>
      </p:sp>
      <p:sp>
        <p:nvSpPr>
          <p:cNvPr id="2" name="">
            <a:extLst xmlns:a="http://schemas.openxmlformats.org/drawingml/2006/main">
              <a:ext uri="{FF2B5EF4-FFF2-40B4-BE49-F238E27FC236}">
                <a16:creationId xmlns:a16="http://schemas.microsoft.com/office/drawing/2014/main" id="{F887E852-FDCB-42BB-9CEB-8D41C18EC630}"/>
              </a:ext>
            </a:extLst>
          </p:cNvPr>
          <p:cNvSpPr>
            <a:spLocks xmlns:a="http://schemas.openxmlformats.org/drawingml/2006/main" noGrp="1"/>
          </p:cNvSpPr>
          <p:nvPr/>
        </p:nvSpPr>
        <p:spPr>
          <a:xfrm xmlns:a="http://schemas.openxmlformats.org/drawingml/2006/main">
            <a:off x="666750" y="68580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3A63"/>
                </a:solidFill>
                <a:latin typeface="Arial"/>
                <a:ea typeface="Arial"/>
                <a:cs typeface="Arial"/>
              </a:defRPr>
            </a:pPr>
            <a:r>
              <a:rPr sz="3150" b="1">
                <a:solidFill>
                  <a:srgbClr val="173A63"/>
                </a:solidFill>
                <a:latin typeface="Arial"/>
                <a:ea typeface="Arial"/>
                <a:cs typeface="Arial"/>
              </a:rPr>
              <a:t>Evidence: 78 lỗi trong 100 ảnh được chọn</a:t>
            </a:r>
          </a:p>
        </p:txBody>
      </p:sp>
      <p:sp>
        <p:nvSpPr>
          <p:cNvPr id="3" name="">
            <a:extLst xmlns:a="http://schemas.openxmlformats.org/drawingml/2006/main">
              <a:ext uri="{FF2B5EF4-FFF2-40B4-BE49-F238E27FC236}">
                <a16:creationId xmlns:a16="http://schemas.microsoft.com/office/drawing/2014/main" id="{4C92F1FC-4B69-46C4-9F11-7149FC0BD8A8}"/>
              </a:ext>
            </a:extLst>
          </p:cNvPr>
          <p:cNvSpPr>
            <a:spLocks xmlns:a="http://schemas.openxmlformats.org/drawingml/2006/main" noGrp="1"/>
          </p:cNvSpPr>
          <p:nvPr/>
        </p:nvSpPr>
        <p:spPr>
          <a:xfrm xmlns:a="http://schemas.openxmlformats.org/drawingml/2006/main">
            <a:off x="666750" y="1524000"/>
            <a:ext cx="1085850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8ECF504-5A83-4302-844C-232B1272D1A4}"/>
              </a:ext>
            </a:extLst>
          </p:cNvPr>
          <p:cNvSpPr>
            <a:spLocks xmlns:a="http://schemas.openxmlformats.org/drawingml/2006/main" noGrp="1"/>
          </p:cNvSpPr>
          <p:nvPr/>
        </p:nvSpPr>
        <p:spPr>
          <a:xfrm xmlns:a="http://schemas.openxmlformats.org/drawingml/2006/main">
            <a:off x="10572750" y="63531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16B84"/>
                </a:solidFill>
                <a:latin typeface="Arial"/>
                <a:ea typeface="Arial"/>
                <a:cs typeface="Arial"/>
              </a:defRPr>
            </a:pPr>
            <a:r>
              <a:rPr sz="1200" b="0">
                <a:solidFill>
                  <a:srgbClr val="516B84"/>
                </a:solidFill>
                <a:latin typeface="Arial"/>
                <a:ea typeface="Arial"/>
                <a:cs typeface="Arial"/>
              </a:rPr>
              <a:t>04 / 05</a:t>
            </a:r>
          </a:p>
        </p:txBody>
      </p:sp>
      <p:sp>
        <p:nvSpPr>
          <p:cNvPr id="5" name="">
            <a:extLst xmlns:a="http://schemas.openxmlformats.org/drawingml/2006/main">
              <a:ext uri="{FF2B5EF4-FFF2-40B4-BE49-F238E27FC236}">
                <a16:creationId xmlns:a16="http://schemas.microsoft.com/office/drawing/2014/main" id="{9451EEBD-1D0C-46B7-9F16-816AB999D062}"/>
              </a:ext>
            </a:extLst>
          </p:cNvPr>
          <p:cNvSpPr>
            <a:spLocks xmlns:a="http://schemas.openxmlformats.org/drawingml/2006/main" noGrp="1"/>
          </p:cNvSpPr>
          <p:nvPr/>
        </p:nvSpPr>
        <p:spPr>
          <a:xfrm xmlns:a="http://schemas.openxmlformats.org/drawingml/2006/main">
            <a:off x="666750" y="1838325"/>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475" b="1">
                <a:solidFill>
                  <a:srgbClr val="1E65A5"/>
                </a:solidFill>
                <a:latin typeface="Arial"/>
                <a:ea typeface="Arial"/>
                <a:cs typeface="Arial"/>
              </a:defRPr>
            </a:pPr>
            <a:r>
              <a:rPr sz="5475" b="1">
                <a:solidFill>
                  <a:srgbClr val="1E65A5"/>
                </a:solidFill>
                <a:latin typeface="Arial"/>
                <a:ea typeface="Arial"/>
                <a:cs typeface="Arial"/>
              </a:rPr>
              <a:t>39,0%</a:t>
            </a:r>
          </a:p>
        </p:txBody>
      </p:sp>
      <p:sp>
        <p:nvSpPr>
          <p:cNvPr id="6" name="">
            <a:extLst xmlns:a="http://schemas.openxmlformats.org/drawingml/2006/main">
              <a:ext uri="{FF2B5EF4-FFF2-40B4-BE49-F238E27FC236}">
                <a16:creationId xmlns:a16="http://schemas.microsoft.com/office/drawing/2014/main" id="{0E25F2D4-464C-4F7B-95EB-D57578BABEC4}"/>
              </a:ext>
            </a:extLst>
          </p:cNvPr>
          <p:cNvSpPr>
            <a:spLocks xmlns:a="http://schemas.openxmlformats.org/drawingml/2006/main" noGrp="1"/>
          </p:cNvSpPr>
          <p:nvPr/>
        </p:nvSpPr>
        <p:spPr>
          <a:xfrm xmlns:a="http://schemas.openxmlformats.org/drawingml/2006/main">
            <a:off x="666750" y="27813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183153"/>
                </a:solidFill>
                <a:latin typeface="Arial"/>
                <a:ea typeface="Arial"/>
                <a:cs typeface="Arial"/>
              </a:defRPr>
            </a:pPr>
            <a:r>
              <a:rPr sz="1725" b="0">
                <a:solidFill>
                  <a:srgbClr val="183153"/>
                </a:solidFill>
                <a:latin typeface="Arial"/>
                <a:ea typeface="Arial"/>
                <a:cs typeface="Arial"/>
              </a:rPr>
              <a:t>Recall@5% của nhóm</a:t>
            </a:r>
          </a:p>
        </p:txBody>
      </p:sp>
      <p:sp>
        <p:nvSpPr>
          <p:cNvPr id="7" name="">
            <a:extLst xmlns:a="http://schemas.openxmlformats.org/drawingml/2006/main">
              <a:ext uri="{FF2B5EF4-FFF2-40B4-BE49-F238E27FC236}">
                <a16:creationId xmlns:a16="http://schemas.microsoft.com/office/drawing/2014/main" id="{37E4519E-839A-421F-B0D2-232BC1183D13}"/>
              </a:ext>
            </a:extLst>
          </p:cNvPr>
          <p:cNvSpPr>
            <a:spLocks xmlns:a="http://schemas.openxmlformats.org/drawingml/2006/main" noGrp="1"/>
          </p:cNvSpPr>
          <p:nvPr/>
        </p:nvSpPr>
        <p:spPr>
          <a:xfrm xmlns:a="http://schemas.openxmlformats.org/drawingml/2006/main">
            <a:off x="4791075" y="1838325"/>
            <a:ext cx="31718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475" b="1">
                <a:solidFill>
                  <a:srgbClr val="516B84"/>
                </a:solidFill>
                <a:latin typeface="Arial"/>
                <a:ea typeface="Arial"/>
                <a:cs typeface="Arial"/>
              </a:defRPr>
            </a:pPr>
            <a:r>
              <a:rPr sz="5475" b="1">
                <a:solidFill>
                  <a:srgbClr val="516B84"/>
                </a:solidFill>
                <a:latin typeface="Arial"/>
                <a:ea typeface="Arial"/>
                <a:cs typeface="Arial"/>
              </a:rPr>
              <a:t>4,82%</a:t>
            </a:r>
          </a:p>
        </p:txBody>
      </p:sp>
      <p:sp>
        <p:nvSpPr>
          <p:cNvPr id="8" name="">
            <a:extLst xmlns:a="http://schemas.openxmlformats.org/drawingml/2006/main">
              <a:ext uri="{FF2B5EF4-FFF2-40B4-BE49-F238E27FC236}">
                <a16:creationId xmlns:a16="http://schemas.microsoft.com/office/drawing/2014/main" id="{31F69663-7AA7-4992-866E-B8891832BB71}"/>
              </a:ext>
            </a:extLst>
          </p:cNvPr>
          <p:cNvSpPr>
            <a:spLocks xmlns:a="http://schemas.openxmlformats.org/drawingml/2006/main" noGrp="1"/>
          </p:cNvSpPr>
          <p:nvPr/>
        </p:nvSpPr>
        <p:spPr>
          <a:xfrm xmlns:a="http://schemas.openxmlformats.org/drawingml/2006/main">
            <a:off x="4791075" y="27813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183153"/>
                </a:solidFill>
                <a:latin typeface="Arial"/>
                <a:ea typeface="Arial"/>
                <a:cs typeface="Arial"/>
              </a:defRPr>
            </a:pPr>
            <a:r>
              <a:rPr sz="1725" b="0">
                <a:solidFill>
                  <a:srgbClr val="183153"/>
                </a:solidFill>
                <a:latin typeface="Arial"/>
                <a:ea typeface="Arial"/>
                <a:cs typeface="Arial"/>
              </a:rPr>
              <a:t>Recall@5% random</a:t>
            </a:r>
          </a:p>
        </p:txBody>
      </p:sp>
      <p:sp>
        <p:nvSpPr>
          <p:cNvPr id="9" name="">
            <a:extLst xmlns:a="http://schemas.openxmlformats.org/drawingml/2006/main">
              <a:ext uri="{FF2B5EF4-FFF2-40B4-BE49-F238E27FC236}">
                <a16:creationId xmlns:a16="http://schemas.microsoft.com/office/drawing/2014/main" id="{4C4F9EBC-5DAE-459C-91C0-0834B617D7F7}"/>
              </a:ext>
            </a:extLst>
          </p:cNvPr>
          <p:cNvSpPr>
            <a:spLocks xmlns:a="http://schemas.openxmlformats.org/drawingml/2006/main" noGrp="1"/>
          </p:cNvSpPr>
          <p:nvPr/>
        </p:nvSpPr>
        <p:spPr>
          <a:xfrm xmlns:a="http://schemas.openxmlformats.org/drawingml/2006/main">
            <a:off x="9248775" y="2000250"/>
            <a:ext cx="21812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975" b="1">
                <a:solidFill>
                  <a:srgbClr val="173A63"/>
                </a:solidFill>
                <a:latin typeface="Arial"/>
                <a:ea typeface="Arial"/>
                <a:cs typeface="Arial"/>
              </a:defRPr>
            </a:pPr>
            <a:r>
              <a:rPr sz="3975" b="1">
                <a:solidFill>
                  <a:srgbClr val="173A63"/>
                </a:solidFill>
                <a:latin typeface="Arial"/>
                <a:ea typeface="Arial"/>
                <a:cs typeface="Arial"/>
              </a:rPr>
              <a:t>8,1×</a:t>
            </a:r>
          </a:p>
        </p:txBody>
      </p:sp>
      <p:sp>
        <p:nvSpPr>
          <p:cNvPr id="10" name="">
            <a:extLst xmlns:a="http://schemas.openxmlformats.org/drawingml/2006/main">
              <a:ext uri="{FF2B5EF4-FFF2-40B4-BE49-F238E27FC236}">
                <a16:creationId xmlns:a16="http://schemas.microsoft.com/office/drawing/2014/main" id="{0E1F7116-0FBA-4E72-AB72-8E521FC8A958}"/>
              </a:ext>
            </a:extLst>
          </p:cNvPr>
          <p:cNvSpPr>
            <a:spLocks xmlns:a="http://schemas.openxmlformats.org/drawingml/2006/main" noGrp="1"/>
          </p:cNvSpPr>
          <p:nvPr/>
        </p:nvSpPr>
        <p:spPr>
          <a:xfrm xmlns:a="http://schemas.openxmlformats.org/drawingml/2006/main">
            <a:off x="9667875" y="27813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16B84"/>
                </a:solidFill>
                <a:latin typeface="Arial"/>
                <a:ea typeface="Arial"/>
                <a:cs typeface="Arial"/>
              </a:defRPr>
            </a:pPr>
            <a:r>
              <a:rPr sz="1500" b="0">
                <a:solidFill>
                  <a:srgbClr val="516B84"/>
                </a:solidFill>
                <a:latin typeface="Arial"/>
                <a:ea typeface="Arial"/>
                <a:cs typeface="Arial"/>
              </a:rPr>
              <a:t>recall</a:t>
            </a:r>
          </a:p>
        </p:txBody>
      </p:sp>
      <p:sp>
        <p:nvSpPr>
          <p:cNvPr id="11" name="">
            <a:extLst xmlns:a="http://schemas.openxmlformats.org/drawingml/2006/main">
              <a:ext uri="{FF2B5EF4-FFF2-40B4-BE49-F238E27FC236}">
                <a16:creationId xmlns:a16="http://schemas.microsoft.com/office/drawing/2014/main" id="{022BE90A-37F6-4B2E-8467-B112D041EE06}"/>
              </a:ext>
            </a:extLst>
          </p:cNvPr>
          <p:cNvSpPr>
            <a:spLocks xmlns:a="http://schemas.openxmlformats.org/drawingml/2006/main" noGrp="1"/>
          </p:cNvSpPr>
          <p:nvPr/>
        </p:nvSpPr>
        <p:spPr>
          <a:xfrm xmlns:a="http://schemas.openxmlformats.org/drawingml/2006/main">
            <a:off x="666750" y="3324225"/>
            <a:ext cx="1076325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42F4F53-BB2B-4A7F-92F6-A696EDC12DB6}"/>
              </a:ext>
            </a:extLst>
          </p:cNvPr>
          <p:cNvSpPr>
            <a:spLocks xmlns:a="http://schemas.openxmlformats.org/drawingml/2006/main" noGrp="1"/>
          </p:cNvSpPr>
          <p:nvPr/>
        </p:nvSpPr>
        <p:spPr>
          <a:xfrm xmlns:a="http://schemas.openxmlformats.org/drawingml/2006/main">
            <a:off x="666750" y="3533775"/>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73A63"/>
                </a:solidFill>
                <a:latin typeface="Arial"/>
                <a:ea typeface="Arial"/>
                <a:cs typeface="Arial"/>
              </a:defRPr>
            </a:pPr>
            <a:r>
              <a:rPr sz="1800" b="1">
                <a:solidFill>
                  <a:srgbClr val="173A63"/>
                </a:solidFill>
                <a:latin typeface="Arial"/>
                <a:ea typeface="Arial"/>
                <a:cs typeface="Arial"/>
              </a:rPr>
              <a:t>Recall theo loại lỗi (%)</a:t>
            </a:r>
          </a:p>
        </p:txBody>
      </p:sp>
      <p:graphicFrame>
        <p:nvGraphicFramePr>
          <p:cNvPr id="29" name="Chart"/>
          <p:cNvGraphicFramePr/>
          <p:nvPr/>
        </p:nvGraphicFramePr>
        <p:xfrm>
          <a:off xmlns:a="http://schemas.openxmlformats.org/drawingml/2006/main" x="600075" y="3933825"/>
          <a:ext xmlns:a="http://schemas.openxmlformats.org/drawingml/2006/main" cx="7400925" cy="2114550"/>
        </p:xfrm>
        <a:graphic xmlns:a="http://schemas.openxmlformats.org/drawingml/2006/main">
          <a:graphicData uri="http://schemas.openxmlformats.org/drawingml/2006/chart">
            <c:chart xmlns:r="http://schemas.openxmlformats.org/officeDocument/2006/relationships" xmlns:c="http://schemas.openxmlformats.org/drawingml/2006/chart" r:id="Redecc00f64c84788"/>
          </a:graphicData>
        </a:graphic>
      </p:graphicFrame>
      <p:sp>
        <p:nvSpPr>
          <p:cNvPr id="14" name="">
            <a:extLst xmlns:a="http://schemas.openxmlformats.org/drawingml/2006/main">
              <a:ext uri="{FF2B5EF4-FFF2-40B4-BE49-F238E27FC236}">
                <a16:creationId xmlns:a16="http://schemas.microsoft.com/office/drawing/2014/main" id="{4F18E64C-D8E3-4063-9BA8-928D9BE07864}"/>
              </a:ext>
            </a:extLst>
          </p:cNvPr>
          <p:cNvSpPr>
            <a:spLocks xmlns:a="http://schemas.openxmlformats.org/drawingml/2006/main" noGrp="1"/>
          </p:cNvSpPr>
          <p:nvPr/>
        </p:nvSpPr>
        <p:spPr>
          <a:xfrm xmlns:a="http://schemas.openxmlformats.org/drawingml/2006/main">
            <a:off x="8353425" y="38195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B83336"/>
                </a:solidFill>
                <a:latin typeface="Arial"/>
                <a:ea typeface="Arial"/>
                <a:cs typeface="Arial"/>
              </a:defRPr>
            </a:pPr>
            <a:r>
              <a:rPr sz="1500" b="1">
                <a:solidFill>
                  <a:srgbClr val="B83336"/>
                </a:solidFill>
                <a:latin typeface="Arial"/>
                <a:ea typeface="Arial"/>
                <a:cs typeface="Arial"/>
              </a:rPr>
              <a:t>Failure case</a:t>
            </a:r>
          </a:p>
        </p:txBody>
      </p:sp>
      <p:sp>
        <p:nvSpPr>
          <p:cNvPr id="15" name="">
            <a:extLst xmlns:a="http://schemas.openxmlformats.org/drawingml/2006/main">
              <a:ext uri="{FF2B5EF4-FFF2-40B4-BE49-F238E27FC236}">
                <a16:creationId xmlns:a16="http://schemas.microsoft.com/office/drawing/2014/main" id="{6EA187C4-B7DD-4884-9B3C-98A9CD5239BB}"/>
              </a:ext>
            </a:extLst>
          </p:cNvPr>
          <p:cNvSpPr>
            <a:spLocks xmlns:a="http://schemas.openxmlformats.org/drawingml/2006/main" noGrp="1"/>
          </p:cNvSpPr>
          <p:nvPr/>
        </p:nvSpPr>
        <p:spPr>
          <a:xfrm xmlns:a="http://schemas.openxmlformats.org/drawingml/2006/main">
            <a:off x="8353425" y="4238625"/>
            <a:ext cx="2914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183153"/>
                </a:solidFill>
                <a:latin typeface="Arial"/>
                <a:ea typeface="Arial"/>
                <a:cs typeface="Arial"/>
              </a:defRPr>
            </a:pPr>
            <a:r>
              <a:rPr sz="1725" b="1">
                <a:solidFill>
                  <a:srgbClr val="183153"/>
                </a:solidFill>
                <a:latin typeface="Arial"/>
                <a:ea typeface="Arial"/>
                <a:cs typeface="Arial"/>
              </a:rPr>
              <a:t>Chỉ 6/80 lỗi Shirt → T-shirt/top được tìm thấy.</a:t>
            </a:r>
          </a:p>
        </p:txBody>
      </p:sp>
      <p:sp>
        <p:nvSpPr>
          <p:cNvPr id="16" name="">
            <a:extLst xmlns:a="http://schemas.openxmlformats.org/drawingml/2006/main">
              <a:ext uri="{FF2B5EF4-FFF2-40B4-BE49-F238E27FC236}">
                <a16:creationId xmlns:a16="http://schemas.microsoft.com/office/drawing/2014/main" id="{285CD410-8657-4672-AC28-C9EAE0AEE5CD}"/>
              </a:ext>
            </a:extLst>
          </p:cNvPr>
          <p:cNvSpPr>
            <a:spLocks xmlns:a="http://schemas.openxmlformats.org/drawingml/2006/main" noGrp="1"/>
          </p:cNvSpPr>
          <p:nvPr/>
        </p:nvSpPr>
        <p:spPr>
          <a:xfrm xmlns:a="http://schemas.openxmlformats.org/drawingml/2006/main">
            <a:off x="8353425" y="5353050"/>
            <a:ext cx="2914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16B84"/>
                </a:solidFill>
                <a:latin typeface="Arial"/>
                <a:ea typeface="Arial"/>
                <a:cs typeface="Arial"/>
              </a:defRPr>
            </a:pPr>
            <a:r>
              <a:rPr sz="1350" b="0">
                <a:solidFill>
                  <a:srgbClr val="516B84"/>
                </a:solidFill>
                <a:latin typeface="Arial"/>
                <a:ea typeface="Arial"/>
                <a:cs typeface="Arial"/>
              </a:rPr>
              <a:t>Stress: recall 52% khi lỗi 5%; 22,5% khi lỗi 20%.</a:t>
            </a:r>
          </a:p>
        </p:txBody>
      </p:sp>
    </p:spTree>
    <p:extLst>
      <p:ext uri="{BB962C8B-B14F-4D97-AF65-F5344CB8AC3E}">
        <p14:creationId xmlns:p14="http://schemas.microsoft.com/office/powerpoint/2010/main" val="690431387"/>
      </p:ext>
    </p:extLst>
  </p:cSld>
</p:sld>
</file>

<file path=ppt/slides/slide5.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959F979-85B3-4E57-A10C-85BEB6B824F1}"/>
              </a:ext>
            </a:extLst>
          </p:cNvPr>
          <p:cNvSpPr>
            <a:spLocks xmlns:a="http://schemas.openxmlformats.org/drawingml/2006/main" noGrp="1"/>
          </p:cNvSpPr>
          <p:nvPr/>
        </p:nvSpPr>
        <p:spPr>
          <a:xfrm xmlns:a="http://schemas.openxmlformats.org/drawingml/2006/main">
            <a:off x="666750" y="2857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1E65A5"/>
                </a:solidFill>
                <a:latin typeface="Arial"/>
                <a:ea typeface="Arial"/>
                <a:cs typeface="Arial"/>
              </a:defRPr>
            </a:pPr>
            <a:r>
              <a:rPr sz="1200" b="1">
                <a:solidFill>
                  <a:srgbClr val="1E65A5"/>
                </a:solidFill>
                <a:latin typeface="Arial"/>
                <a:ea typeface="Arial"/>
                <a:cs typeface="Arial"/>
              </a:rPr>
              <a:t>C1  /  DECISION</a:t>
            </a:r>
          </a:p>
        </p:txBody>
      </p:sp>
      <p:sp>
        <p:nvSpPr>
          <p:cNvPr id="2" name="">
            <a:extLst xmlns:a="http://schemas.openxmlformats.org/drawingml/2006/main">
              <a:ext uri="{FF2B5EF4-FFF2-40B4-BE49-F238E27FC236}">
                <a16:creationId xmlns:a16="http://schemas.microsoft.com/office/drawing/2014/main" id="{F96038C6-E82B-477E-A45D-208C006CBD1D}"/>
              </a:ext>
            </a:extLst>
          </p:cNvPr>
          <p:cNvSpPr>
            <a:spLocks xmlns:a="http://schemas.openxmlformats.org/drawingml/2006/main" noGrp="1"/>
          </p:cNvSpPr>
          <p:nvPr/>
        </p:nvSpPr>
        <p:spPr>
          <a:xfrm xmlns:a="http://schemas.openxmlformats.org/drawingml/2006/main">
            <a:off x="666750" y="68580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3A63"/>
                </a:solidFill>
                <a:latin typeface="Arial"/>
                <a:ea typeface="Arial"/>
                <a:cs typeface="Arial"/>
              </a:defRPr>
            </a:pPr>
            <a:r>
              <a:rPr sz="3150" b="1">
                <a:solidFill>
                  <a:srgbClr val="173A63"/>
                </a:solidFill>
                <a:latin typeface="Arial"/>
                <a:ea typeface="Arial"/>
                <a:cs typeface="Arial"/>
              </a:rPr>
              <a:t>Decision: Rework trước khi triển khai thật</a:t>
            </a:r>
          </a:p>
        </p:txBody>
      </p:sp>
      <p:sp>
        <p:nvSpPr>
          <p:cNvPr id="3" name="">
            <a:extLst xmlns:a="http://schemas.openxmlformats.org/drawingml/2006/main">
              <a:ext uri="{FF2B5EF4-FFF2-40B4-BE49-F238E27FC236}">
                <a16:creationId xmlns:a16="http://schemas.microsoft.com/office/drawing/2014/main" id="{679FB7F5-477A-4D67-87C1-298625C825F1}"/>
              </a:ext>
            </a:extLst>
          </p:cNvPr>
          <p:cNvSpPr>
            <a:spLocks xmlns:a="http://schemas.openxmlformats.org/drawingml/2006/main" noGrp="1"/>
          </p:cNvSpPr>
          <p:nvPr/>
        </p:nvSpPr>
        <p:spPr>
          <a:xfrm xmlns:a="http://schemas.openxmlformats.org/drawingml/2006/main">
            <a:off x="666750" y="1524000"/>
            <a:ext cx="1085850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66C21BB-988F-4A83-81D3-EF0E807B7416}"/>
              </a:ext>
            </a:extLst>
          </p:cNvPr>
          <p:cNvSpPr>
            <a:spLocks xmlns:a="http://schemas.openxmlformats.org/drawingml/2006/main" noGrp="1"/>
          </p:cNvSpPr>
          <p:nvPr/>
        </p:nvSpPr>
        <p:spPr>
          <a:xfrm xmlns:a="http://schemas.openxmlformats.org/drawingml/2006/main">
            <a:off x="10572750" y="63531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16B84"/>
                </a:solidFill>
                <a:latin typeface="Arial"/>
                <a:ea typeface="Arial"/>
                <a:cs typeface="Arial"/>
              </a:defRPr>
            </a:pPr>
            <a:r>
              <a:rPr sz="1200" b="0">
                <a:solidFill>
                  <a:srgbClr val="516B84"/>
                </a:solidFill>
                <a:latin typeface="Arial"/>
                <a:ea typeface="Arial"/>
                <a:cs typeface="Arial"/>
              </a:rPr>
              <a:t>05 / 05</a:t>
            </a:r>
          </a:p>
        </p:txBody>
      </p:sp>
      <p:sp>
        <p:nvSpPr>
          <p:cNvPr id="5" name="">
            <a:extLst xmlns:a="http://schemas.openxmlformats.org/drawingml/2006/main">
              <a:ext uri="{FF2B5EF4-FFF2-40B4-BE49-F238E27FC236}">
                <a16:creationId xmlns:a16="http://schemas.microsoft.com/office/drawing/2014/main" id="{A901C055-47AA-461C-BFA0-7C3B1E4EB141}"/>
              </a:ext>
            </a:extLst>
          </p:cNvPr>
          <p:cNvSpPr>
            <a:spLocks xmlns:a="http://schemas.openxmlformats.org/drawingml/2006/main" noGrp="1"/>
          </p:cNvSpPr>
          <p:nvPr/>
        </p:nvSpPr>
        <p:spPr>
          <a:xfrm xmlns:a="http://schemas.openxmlformats.org/drawingml/2006/main">
            <a:off x="666750" y="1847850"/>
            <a:ext cx="4857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875" b="1">
                <a:solidFill>
                  <a:srgbClr val="B83336"/>
                </a:solidFill>
                <a:latin typeface="Arial"/>
                <a:ea typeface="Arial"/>
                <a:cs typeface="Arial"/>
              </a:defRPr>
            </a:pPr>
            <a:r>
              <a:rPr sz="4875" b="1">
                <a:solidFill>
                  <a:srgbClr val="B83336"/>
                </a:solidFill>
                <a:latin typeface="Arial"/>
                <a:ea typeface="Arial"/>
                <a:cs typeface="Arial"/>
              </a:rPr>
              <a:t>REWORK</a:t>
            </a:r>
          </a:p>
        </p:txBody>
      </p:sp>
      <p:sp>
        <p:nvSpPr>
          <p:cNvPr id="6" name="">
            <a:extLst xmlns:a="http://schemas.openxmlformats.org/drawingml/2006/main">
              <a:ext uri="{FF2B5EF4-FFF2-40B4-BE49-F238E27FC236}">
                <a16:creationId xmlns:a16="http://schemas.microsoft.com/office/drawing/2014/main" id="{991B16C4-45AC-41CC-B51D-C83DE3B7261D}"/>
              </a:ext>
            </a:extLst>
          </p:cNvPr>
          <p:cNvSpPr>
            <a:spLocks xmlns:a="http://schemas.openxmlformats.org/drawingml/2006/main" noGrp="1"/>
          </p:cNvSpPr>
          <p:nvPr/>
        </p:nvSpPr>
        <p:spPr>
          <a:xfrm xmlns:a="http://schemas.openxmlformats.org/drawingml/2006/main">
            <a:off x="666750" y="275272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83153"/>
                </a:solidFill>
                <a:latin typeface="Arial"/>
                <a:ea typeface="Arial"/>
                <a:cs typeface="Arial"/>
              </a:defRPr>
            </a:pPr>
            <a:r>
              <a:rPr sz="2175" b="0">
                <a:solidFill>
                  <a:srgbClr val="183153"/>
                </a:solidFill>
                <a:latin typeface="Arial"/>
                <a:ea typeface="Arial"/>
                <a:cs typeface="Arial"/>
              </a:rPr>
              <a:t>Ranking vượt random, nhưng chưa đủ tin cậy cho lỗi có hệ thống.</a:t>
            </a:r>
          </a:p>
        </p:txBody>
      </p:sp>
      <p:sp>
        <p:nvSpPr>
          <p:cNvPr id="7" name="">
            <a:extLst xmlns:a="http://schemas.openxmlformats.org/drawingml/2006/main">
              <a:ext uri="{FF2B5EF4-FFF2-40B4-BE49-F238E27FC236}">
                <a16:creationId xmlns:a16="http://schemas.microsoft.com/office/drawing/2014/main" id="{A905E772-C07E-47F8-8705-A38F3E0AE8A4}"/>
              </a:ext>
            </a:extLst>
          </p:cNvPr>
          <p:cNvSpPr>
            <a:spLocks xmlns:a="http://schemas.openxmlformats.org/drawingml/2006/main" noGrp="1"/>
          </p:cNvSpPr>
          <p:nvPr/>
        </p:nvSpPr>
        <p:spPr>
          <a:xfrm xmlns:a="http://schemas.openxmlformats.org/drawingml/2006/main">
            <a:off x="666750" y="3676650"/>
            <a:ext cx="1076325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D1326F7-F9E9-4C65-8C50-95FD9C2AA9F7}"/>
              </a:ext>
            </a:extLst>
          </p:cNvPr>
          <p:cNvSpPr>
            <a:spLocks xmlns:a="http://schemas.openxmlformats.org/drawingml/2006/main" noGrp="1"/>
          </p:cNvSpPr>
          <p:nvPr/>
        </p:nvSpPr>
        <p:spPr>
          <a:xfrm xmlns:a="http://schemas.openxmlformats.org/drawingml/2006/main">
            <a:off x="666750" y="39147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1E65A5"/>
                </a:solidFill>
                <a:latin typeface="Arial"/>
                <a:ea typeface="Arial"/>
                <a:cs typeface="Arial"/>
              </a:defRPr>
            </a:pPr>
            <a:r>
              <a:rPr sz="1575" b="1">
                <a:solidFill>
                  <a:srgbClr val="1E65A5"/>
                </a:solidFill>
                <a:latin typeface="Arial"/>
                <a:ea typeface="Arial"/>
                <a:cs typeface="Arial"/>
              </a:rPr>
              <a:t>Điểm mạnh</a:t>
            </a:r>
          </a:p>
        </p:txBody>
      </p:sp>
      <p:sp>
        <p:nvSpPr>
          <p:cNvPr id="9" name="">
            <a:extLst xmlns:a="http://schemas.openxmlformats.org/drawingml/2006/main">
              <a:ext uri="{FF2B5EF4-FFF2-40B4-BE49-F238E27FC236}">
                <a16:creationId xmlns:a16="http://schemas.microsoft.com/office/drawing/2014/main" id="{3E802937-A38F-4966-8E19-38AF46F83C04}"/>
              </a:ext>
            </a:extLst>
          </p:cNvPr>
          <p:cNvSpPr>
            <a:spLocks xmlns:a="http://schemas.openxmlformats.org/drawingml/2006/main" noGrp="1"/>
          </p:cNvSpPr>
          <p:nvPr/>
        </p:nvSpPr>
        <p:spPr>
          <a:xfrm xmlns:a="http://schemas.openxmlformats.org/drawingml/2006/main">
            <a:off x="666750" y="43529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183153"/>
                </a:solidFill>
                <a:latin typeface="Arial"/>
                <a:ea typeface="Arial"/>
                <a:cs typeface="Arial"/>
              </a:defRPr>
            </a:pPr>
            <a:r>
              <a:rPr sz="1800" b="0">
                <a:solidFill>
                  <a:srgbClr val="183153"/>
                </a:solidFill>
                <a:latin typeface="Arial"/>
                <a:ea typeface="Arial"/>
                <a:cs typeface="Arial"/>
              </a:rPr>
              <a:t>Hàng chờ top 100 chạy offline; tìm 78 lỗi trên bài thử.</a:t>
            </a:r>
          </a:p>
        </p:txBody>
      </p:sp>
      <p:sp>
        <p:nvSpPr>
          <p:cNvPr id="10" name="">
            <a:extLst xmlns:a="http://schemas.openxmlformats.org/drawingml/2006/main">
              <a:ext uri="{FF2B5EF4-FFF2-40B4-BE49-F238E27FC236}">
                <a16:creationId xmlns:a16="http://schemas.microsoft.com/office/drawing/2014/main" id="{35C6500A-46EE-40F4-B878-2EAD33A8EDB1}"/>
              </a:ext>
            </a:extLst>
          </p:cNvPr>
          <p:cNvSpPr>
            <a:spLocks xmlns:a="http://schemas.openxmlformats.org/drawingml/2006/main" noGrp="1"/>
          </p:cNvSpPr>
          <p:nvPr/>
        </p:nvSpPr>
        <p:spPr>
          <a:xfrm xmlns:a="http://schemas.openxmlformats.org/drawingml/2006/main">
            <a:off x="6200775" y="39147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B83336"/>
                </a:solidFill>
                <a:latin typeface="Arial"/>
                <a:ea typeface="Arial"/>
                <a:cs typeface="Arial"/>
              </a:defRPr>
            </a:pPr>
            <a:r>
              <a:rPr sz="1575" b="1">
                <a:solidFill>
                  <a:srgbClr val="B83336"/>
                </a:solidFill>
                <a:latin typeface="Arial"/>
                <a:ea typeface="Arial"/>
                <a:cs typeface="Arial"/>
              </a:rPr>
              <a:t>Giới hạn</a:t>
            </a:r>
          </a:p>
        </p:txBody>
      </p:sp>
      <p:sp>
        <p:nvSpPr>
          <p:cNvPr id="11" name="">
            <a:extLst xmlns:a="http://schemas.openxmlformats.org/drawingml/2006/main">
              <a:ext uri="{FF2B5EF4-FFF2-40B4-BE49-F238E27FC236}">
                <a16:creationId xmlns:a16="http://schemas.microsoft.com/office/drawing/2014/main" id="{78958F9A-3957-4361-97D1-D996C52A9F5C}"/>
              </a:ext>
            </a:extLst>
          </p:cNvPr>
          <p:cNvSpPr>
            <a:spLocks xmlns:a="http://schemas.openxmlformats.org/drawingml/2006/main" noGrp="1"/>
          </p:cNvSpPr>
          <p:nvPr/>
        </p:nvSpPr>
        <p:spPr>
          <a:xfrm xmlns:a="http://schemas.openxmlformats.org/drawingml/2006/main">
            <a:off x="6200775" y="4352925"/>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183153"/>
                </a:solidFill>
                <a:latin typeface="Arial"/>
                <a:ea typeface="Arial"/>
                <a:cs typeface="Arial"/>
              </a:defRPr>
            </a:pPr>
            <a:r>
              <a:rPr sz="1800" b="0">
                <a:solidFill>
                  <a:srgbClr val="183153"/>
                </a:solidFill>
                <a:latin typeface="Arial"/>
                <a:ea typeface="Arial"/>
                <a:cs typeface="Arial"/>
              </a:rPr>
              <a:t>Chỉ 6/80 lỗi nhầm lớp; dữ liệu là lỗi mô phỏng, chưa đo phút review.</a:t>
            </a:r>
          </a:p>
        </p:txBody>
      </p:sp>
      <p:sp>
        <p:nvSpPr>
          <p:cNvPr id="12" name="">
            <a:extLst xmlns:a="http://schemas.openxmlformats.org/drawingml/2006/main">
              <a:ext uri="{FF2B5EF4-FFF2-40B4-BE49-F238E27FC236}">
                <a16:creationId xmlns:a16="http://schemas.microsoft.com/office/drawing/2014/main" id="{C4205D2D-8E13-40BE-B4D8-679D3B00C058}"/>
              </a:ext>
            </a:extLst>
          </p:cNvPr>
          <p:cNvSpPr>
            <a:spLocks xmlns:a="http://schemas.openxmlformats.org/drawingml/2006/main" noGrp="1"/>
          </p:cNvSpPr>
          <p:nvPr/>
        </p:nvSpPr>
        <p:spPr>
          <a:xfrm xmlns:a="http://schemas.openxmlformats.org/drawingml/2006/main">
            <a:off x="666750" y="5448300"/>
            <a:ext cx="10763250" cy="19050"/>
          </a:xfrm>
          <a:prstGeom xmlns:a="http://schemas.openxmlformats.org/drawingml/2006/main" prst="rect">
            <a:avLst/>
          </a:prstGeom>
          <a:solidFill xmlns:a="http://schemas.openxmlformats.org/drawingml/2006/main">
            <a:srgbClr val="B8D0E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82BF70C-11DB-4C2D-9E83-A2685BBBDBB9}"/>
              </a:ext>
            </a:extLst>
          </p:cNvPr>
          <p:cNvSpPr>
            <a:spLocks xmlns:a="http://schemas.openxmlformats.org/drawingml/2006/main" noGrp="1"/>
          </p:cNvSpPr>
          <p:nvPr/>
        </p:nvSpPr>
        <p:spPr>
          <a:xfrm xmlns:a="http://schemas.openxmlformats.org/drawingml/2006/main">
            <a:off x="666750" y="56483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73A63"/>
                </a:solidFill>
                <a:latin typeface="Arial"/>
                <a:ea typeface="Arial"/>
                <a:cs typeface="Arial"/>
              </a:defRPr>
            </a:pPr>
            <a:r>
              <a:rPr sz="1800" b="1">
                <a:solidFill>
                  <a:srgbClr val="173A63"/>
                </a:solidFill>
                <a:latin typeface="Arial"/>
                <a:ea typeface="Arial"/>
                <a:cs typeface="Arial"/>
              </a:rPr>
              <a:t>Bước tiếp: tín hiệu theo lô, nhãn thật được phân xử độc lập và phút review.</a:t>
            </a:r>
          </a:p>
        </p:txBody>
      </p:sp>
    </p:spTree>
    <p:extLst>
      <p:ext uri="{BB962C8B-B14F-4D97-AF65-F5344CB8AC3E}">
        <p14:creationId xmlns:p14="http://schemas.microsoft.com/office/powerpoint/2010/main" val="16272436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2026-09-24T09:05:04.7130000Z</dcterms:created>
  <dcterms:modified xsi:type="dcterms:W3CDTF">2026-09-24T09:05:04.7130000Z</dcterms:modified>
</coreProperties>
</file>